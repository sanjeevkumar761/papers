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eev Kumar" userId="ed94c422-f0b9-4d2d-a461-6e3065d93970" providerId="ADAL" clId="{9DED2472-5778-445B-B531-CB3A8110DA29}"/>
    <pc:docChg chg="custSel modSld">
      <pc:chgData name="Sanjeev Kumar" userId="ed94c422-f0b9-4d2d-a461-6e3065d93970" providerId="ADAL" clId="{9DED2472-5778-445B-B531-CB3A8110DA29}" dt="2026-07-12T21:29:55.282" v="6" actId="20577"/>
      <pc:docMkLst>
        <pc:docMk/>
      </pc:docMkLst>
      <pc:sldChg chg="addSp delSp modSp mod">
        <pc:chgData name="Sanjeev Kumar" userId="ed94c422-f0b9-4d2d-a461-6e3065d93970" providerId="ADAL" clId="{9DED2472-5778-445B-B531-CB3A8110DA29}" dt="2026-07-12T21:29:55.282" v="6" actId="20577"/>
        <pc:sldMkLst>
          <pc:docMk/>
          <pc:sldMk cId="2570087878" sldId="256"/>
        </pc:sldMkLst>
        <pc:spChg chg="del">
          <ac:chgData name="Sanjeev Kumar" userId="ed94c422-f0b9-4d2d-a461-6e3065d93970" providerId="ADAL" clId="{9DED2472-5778-445B-B531-CB3A8110DA29}" dt="2026-07-12T21:29:14.608" v="0" actId="478"/>
          <ac:spMkLst>
            <pc:docMk/>
            <pc:sldMk cId="2570087878" sldId="256"/>
            <ac:spMk id="74" creationId="{1999D8BB-DD3A-C069-BF27-C3F6893F5C1A}"/>
          </ac:spMkLst>
        </pc:spChg>
        <pc:spChg chg="add mod">
          <ac:chgData name="Sanjeev Kumar" userId="ed94c422-f0b9-4d2d-a461-6e3065d93970" providerId="ADAL" clId="{9DED2472-5778-445B-B531-CB3A8110DA29}" dt="2026-07-12T21:29:52.469" v="4" actId="1076"/>
          <ac:spMkLst>
            <pc:docMk/>
            <pc:sldMk cId="2570087878" sldId="256"/>
            <ac:spMk id="76" creationId="{E248AC30-0ADE-999C-BCE9-B9BD0F07EC3A}"/>
          </ac:spMkLst>
        </pc:spChg>
        <pc:spChg chg="add mod">
          <ac:chgData name="Sanjeev Kumar" userId="ed94c422-f0b9-4d2d-a461-6e3065d93970" providerId="ADAL" clId="{9DED2472-5778-445B-B531-CB3A8110DA29}" dt="2026-07-12T21:29:55.282" v="6" actId="20577"/>
          <ac:spMkLst>
            <pc:docMk/>
            <pc:sldMk cId="2570087878" sldId="256"/>
            <ac:spMk id="78" creationId="{F66C8219-95F5-D413-A56E-89D813E7E123}"/>
          </ac:spMkLst>
        </pc:spChg>
        <pc:picChg chg="add mod">
          <ac:chgData name="Sanjeev Kumar" userId="ed94c422-f0b9-4d2d-a461-6e3065d93970" providerId="ADAL" clId="{9DED2472-5778-445B-B531-CB3A8110DA29}" dt="2026-07-12T21:29:52.469" v="4" actId="1076"/>
          <ac:picMkLst>
            <pc:docMk/>
            <pc:sldMk cId="2570087878" sldId="256"/>
            <ac:picMk id="80" creationId="{564A4A33-18F2-3688-F4B4-F8B95E75BE4F}"/>
          </ac:picMkLst>
        </pc:picChg>
        <pc:picChg chg="add mod">
          <ac:chgData name="Sanjeev Kumar" userId="ed94c422-f0b9-4d2d-a461-6e3065d93970" providerId="ADAL" clId="{9DED2472-5778-445B-B531-CB3A8110DA29}" dt="2026-07-12T21:29:52.469" v="4" actId="1076"/>
          <ac:picMkLst>
            <pc:docMk/>
            <pc:sldMk cId="2570087878" sldId="256"/>
            <ac:picMk id="82" creationId="{053406E7-1870-CC39-E916-63F5FF6A94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64BD-4599-9BF6-6917-2A4A30838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C3D44-5FAA-9852-2781-983DB2702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FFF60-FD0C-886F-4230-0C2595AD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9A00-6047-7B59-C097-93842EE9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8E1FE-24E8-FFBB-2F8F-9572D783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6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C61D-D81C-F4C1-E271-796FD1A0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7DB08-7935-1A93-5D37-FDAC47210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DC36-0E94-D66D-9FE5-1B1FA55B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FA970-1E0E-4C3C-5486-388D386B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80995-C47C-93E1-9ED4-EDEAA861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1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8B7B-BD29-025F-824C-C38DCD22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91818-9840-FE76-BBAC-CCD58D6B5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FF668-4792-6EF4-1450-40628F0DA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F0E83-9990-DA5D-4D15-B5F38CAA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1BC44-47DD-6FF8-84E3-01BB7286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9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6D98-9DE4-38A2-6436-868167AB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F693B-DF95-87A7-11B0-6504CA78F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BA45D-BC55-5228-ECDA-F4E0037EB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8E3B6-4121-DFC0-EF6A-D303BE40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311AF-8B3E-29D1-2E87-FEB6ABDB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BDD65-1A09-D21C-9599-09605602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0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866C-6319-C600-2CD6-0472A720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B955-E164-39A4-7FE3-7D38173B1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402D1-7304-6A14-0CBF-4E6DE3A47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6B516-C520-D511-0EE7-08BAD8A46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21ECA-479D-025D-E5FC-99C69B4A9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AFBFBD-6548-0205-393C-08F96E74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4D3BC7-B611-EA4A-3254-36DA8B1A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B4332-094E-C2E8-8774-6F500D6BD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6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83B8-6560-C086-D58B-32E282CF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3D5466-0FBC-84F8-A74A-61BD1D54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5CAB8-1F81-121F-8C96-A99A232A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9EE97-9E8D-3CF6-535F-D7DD1F65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28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E1D5E-0E7C-2C29-8615-902A5B41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BCB63-D808-F328-9788-03787748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C714C-805A-2935-5BA5-7EDE9074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1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1308-437C-F3C5-DF1B-04AA2ACA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F2659-51EF-2163-1D88-6F44D3023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577E0-AD75-DEFF-C649-E318EB889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08143-23EF-2849-A627-AA9ED878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629B8-A400-ADE8-5249-36F57885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51904-0679-0515-3940-FF95F056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6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D0A9-CF68-4279-4B80-D577964A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03802B-37CB-AE9C-9B9A-9BF6DF6E7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5EEAF-02E8-BED9-78C5-94BCA35A6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BC978-4B21-57D6-5C38-59DC2A08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7E94F-004C-8CCE-0520-DEC65852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23D5A-CA7F-A35F-7986-786E1867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0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DE8E-FC44-4858-F6FB-48D97945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E9634-86F3-6AB9-6E4E-45104DBE5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A2CDC-3C80-AEAE-3E7D-74F85F25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31739-687A-96BE-484A-EF561DD1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1846F-1161-ECD3-3FF4-CF3527DF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2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88A38-278F-4F6E-1EF3-15BD1A7BE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625B2-7259-554D-8438-1110C7BC9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AB087-8534-EBD7-408B-3C2ED252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2693-A54C-72BF-008C-BE9F5462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B3473-AAD2-010A-4DAB-3482FD9A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A41BB2-0D86-2D73-4F4E-6B9C3C71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8D8FD-D7A3-563F-6AFE-AC6B708A0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9B4D8-F0D3-6D6F-E550-33E8D45BE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3F3B1-DB24-4043-B1DB-FD94DA3FD45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1CAA7-3777-20C2-D046-A5A9DEF2F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6FE67-D52B-364B-03E2-A63FFED68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13C01-1311-4DE6-8079-6319EA811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A3C68-1C6D-59F3-AE2F-56364D5B32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163B84A-0256-F94C-E718-32FA013C0E2D}"/>
              </a:ext>
            </a:extLst>
          </p:cNvPr>
          <p:cNvSpPr/>
          <p:nvPr/>
        </p:nvSpPr>
        <p:spPr>
          <a:xfrm>
            <a:off x="9652000" y="-1206500"/>
            <a:ext cx="3302000" cy="3302000"/>
          </a:xfrm>
          <a:prstGeom prst="ellipse">
            <a:avLst/>
          </a:prstGeom>
          <a:solidFill>
            <a:srgbClr val="0078D4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E7056C-2FE0-E26B-DD08-AB47D4C596A7}"/>
              </a:ext>
            </a:extLst>
          </p:cNvPr>
          <p:cNvSpPr/>
          <p:nvPr/>
        </p:nvSpPr>
        <p:spPr>
          <a:xfrm>
            <a:off x="-1333500" y="5207000"/>
            <a:ext cx="3619500" cy="3619500"/>
          </a:xfrm>
          <a:prstGeom prst="ellipse">
            <a:avLst/>
          </a:prstGeom>
          <a:solidFill>
            <a:srgbClr val="5C2D91">
              <a:alpha val="2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D1929-2A60-D6D5-44CA-2AA72A2A0E8B}"/>
              </a:ext>
            </a:extLst>
          </p:cNvPr>
          <p:cNvSpPr txBox="1"/>
          <p:nvPr/>
        </p:nvSpPr>
        <p:spPr>
          <a:xfrm>
            <a:off x="411480" y="256032"/>
            <a:ext cx="667512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Aptos" panose="020B0004020202020204" pitchFamily="34" charset="0"/>
              </a:rPr>
              <a:t>Agentic Investment Bank Canvas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F2D27-2E43-5CA7-89D0-95FBED09EFC0}"/>
              </a:ext>
            </a:extLst>
          </p:cNvPr>
          <p:cNvSpPr txBox="1"/>
          <p:nvPr/>
        </p:nvSpPr>
        <p:spPr>
          <a:xfrm>
            <a:off x="429768" y="713232"/>
            <a:ext cx="758952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>
                <a:solidFill>
                  <a:srgbClr val="DBEAFE"/>
                </a:solidFill>
                <a:latin typeface="Aptos" panose="020B0004020202020204" pitchFamily="34" charset="0"/>
              </a:rPr>
              <a:t>A business-model-canvas style tool for designing a human-led, agent-executed banking operating model</a:t>
            </a:r>
            <a:endParaRPr lang="en-US" sz="1000">
              <a:solidFill>
                <a:srgbClr val="DBEAFE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4B3E99-D2FA-B72C-6038-63327B78C1E5}"/>
              </a:ext>
            </a:extLst>
          </p:cNvPr>
          <p:cNvSpPr/>
          <p:nvPr/>
        </p:nvSpPr>
        <p:spPr>
          <a:xfrm>
            <a:off x="411480" y="1024128"/>
            <a:ext cx="11356848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F487DA-368F-D0B2-3438-0DCCF9161951}"/>
              </a:ext>
            </a:extLst>
          </p:cNvPr>
          <p:cNvSpPr/>
          <p:nvPr/>
        </p:nvSpPr>
        <p:spPr>
          <a:xfrm>
            <a:off x="621792" y="1207008"/>
            <a:ext cx="10936224" cy="658368"/>
          </a:xfrm>
          <a:prstGeom prst="roundRect">
            <a:avLst/>
          </a:prstGeom>
          <a:solidFill>
            <a:srgbClr val="0F172A"/>
          </a:solidFill>
          <a:ln w="0">
            <a:solidFill>
              <a:srgbClr val="0F172A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717B8-A870-F1C1-F818-1AAF25DA837D}"/>
              </a:ext>
            </a:extLst>
          </p:cNvPr>
          <p:cNvSpPr txBox="1"/>
          <p:nvPr/>
        </p:nvSpPr>
        <p:spPr>
          <a:xfrm>
            <a:off x="822960" y="1344168"/>
            <a:ext cx="10515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From AI tools to an agentic operating model</a:t>
            </a:r>
            <a:endParaRPr lang="en-US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69298-1C75-B97B-101C-1CFE07E397B1}"/>
              </a:ext>
            </a:extLst>
          </p:cNvPr>
          <p:cNvSpPr txBox="1"/>
          <p:nvPr/>
        </p:nvSpPr>
        <p:spPr>
          <a:xfrm>
            <a:off x="1097280" y="1600200"/>
            <a:ext cx="99669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DBEAFE"/>
                </a:solidFill>
                <a:latin typeface="Aptos" panose="020B0004020202020204" pitchFamily="34" charset="0"/>
              </a:rPr>
              <a:t>Connect proprietary context, specialized agents, human judgment, governance, and measurable client value</a:t>
            </a:r>
            <a:endParaRPr lang="en-US" sz="800">
              <a:solidFill>
                <a:srgbClr val="DBEAFE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AC9DC9-1A97-82C6-43B8-88BE127AEDFD}"/>
              </a:ext>
            </a:extLst>
          </p:cNvPr>
          <p:cNvSpPr/>
          <p:nvPr/>
        </p:nvSpPr>
        <p:spPr>
          <a:xfrm>
            <a:off x="621792" y="2084832"/>
            <a:ext cx="2029968" cy="1627632"/>
          </a:xfrm>
          <a:prstGeom prst="roundRect">
            <a:avLst/>
          </a:prstGeom>
          <a:solidFill>
            <a:srgbClr val="CFE4FA"/>
          </a:solidFill>
          <a:ln w="17780">
            <a:solidFill>
              <a:srgbClr val="0078D4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AEF09C-002B-0CCF-9596-53B1CBF2B177}"/>
              </a:ext>
            </a:extLst>
          </p:cNvPr>
          <p:cNvSpPr/>
          <p:nvPr/>
        </p:nvSpPr>
        <p:spPr>
          <a:xfrm>
            <a:off x="768096" y="2221992"/>
            <a:ext cx="292608" cy="292608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8AB84-0CAB-16E9-B488-17E0C43F470E}"/>
              </a:ext>
            </a:extLst>
          </p:cNvPr>
          <p:cNvSpPr txBox="1"/>
          <p:nvPr/>
        </p:nvSpPr>
        <p:spPr>
          <a:xfrm>
            <a:off x="845820" y="2272284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E0DF2-74DA-241B-A962-BB5A220F21FB}"/>
              </a:ext>
            </a:extLst>
          </p:cNvPr>
          <p:cNvSpPr txBox="1"/>
          <p:nvPr/>
        </p:nvSpPr>
        <p:spPr>
          <a:xfrm>
            <a:off x="1124712" y="2240280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Proprietary Context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ECCB4-0B13-EB44-E7B1-890E5047F343}"/>
              </a:ext>
            </a:extLst>
          </p:cNvPr>
          <p:cNvSpPr txBox="1"/>
          <p:nvPr/>
        </p:nvSpPr>
        <p:spPr>
          <a:xfrm>
            <a:off x="786384" y="2615184"/>
            <a:ext cx="173736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What does the bank know that others do not?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AB9AE-C3DB-0E99-5876-6D012FD2BDBB}"/>
              </a:ext>
            </a:extLst>
          </p:cNvPr>
          <p:cNvSpPr txBox="1"/>
          <p:nvPr/>
        </p:nvSpPr>
        <p:spPr>
          <a:xfrm>
            <a:off x="786384" y="3017520"/>
            <a:ext cx="173736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700">
                <a:solidFill>
                  <a:srgbClr val="374151"/>
                </a:solidFill>
                <a:latin typeface="Aptos" panose="020B0004020202020204" pitchFamily="34" charset="0"/>
              </a:rPr>
              <a:t>Client history, sector theses, deal precedents, buyer behavior, valuation history, risk learnings</a:t>
            </a:r>
            <a:endParaRPr lang="en-US" sz="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EA8B3A-12D0-ABB9-578E-02437131CA28}"/>
              </a:ext>
            </a:extLst>
          </p:cNvPr>
          <p:cNvSpPr/>
          <p:nvPr/>
        </p:nvSpPr>
        <p:spPr>
          <a:xfrm>
            <a:off x="2816352" y="2084832"/>
            <a:ext cx="2029968" cy="1627632"/>
          </a:xfrm>
          <a:prstGeom prst="roundRect">
            <a:avLst/>
          </a:prstGeom>
          <a:solidFill>
            <a:srgbClr val="E8DAEF"/>
          </a:solidFill>
          <a:ln w="17780">
            <a:solidFill>
              <a:srgbClr val="5C2D91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3F5B33-AD20-F9F4-D8AB-3584B4B478B7}"/>
              </a:ext>
            </a:extLst>
          </p:cNvPr>
          <p:cNvSpPr/>
          <p:nvPr/>
        </p:nvSpPr>
        <p:spPr>
          <a:xfrm>
            <a:off x="2962656" y="2221992"/>
            <a:ext cx="292608" cy="292608"/>
          </a:xfrm>
          <a:prstGeom prst="ellipse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DA1573-91CE-E6B1-3854-86BFF3DFA847}"/>
              </a:ext>
            </a:extLst>
          </p:cNvPr>
          <p:cNvSpPr txBox="1"/>
          <p:nvPr/>
        </p:nvSpPr>
        <p:spPr>
          <a:xfrm>
            <a:off x="3040380" y="2272284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F90496-E7B9-4294-05D3-130872E77610}"/>
              </a:ext>
            </a:extLst>
          </p:cNvPr>
          <p:cNvSpPr txBox="1"/>
          <p:nvPr/>
        </p:nvSpPr>
        <p:spPr>
          <a:xfrm>
            <a:off x="3319272" y="2240280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Agentic Capabilities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54457C-0D02-6C7C-F382-BEB184C33B1B}"/>
              </a:ext>
            </a:extLst>
          </p:cNvPr>
          <p:cNvSpPr txBox="1"/>
          <p:nvPr/>
        </p:nvSpPr>
        <p:spPr>
          <a:xfrm>
            <a:off x="2980944" y="2615184"/>
            <a:ext cx="173736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What specialized agents are required?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BA7FB-AB99-B74B-4FEA-9EE3292C8F19}"/>
              </a:ext>
            </a:extLst>
          </p:cNvPr>
          <p:cNvSpPr txBox="1"/>
          <p:nvPr/>
        </p:nvSpPr>
        <p:spPr>
          <a:xfrm>
            <a:off x="2980944" y="3017520"/>
            <a:ext cx="173736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700">
                <a:solidFill>
                  <a:srgbClr val="374151"/>
                </a:solidFill>
                <a:latin typeface="Aptos" panose="020B0004020202020204" pitchFamily="34" charset="0"/>
              </a:rPr>
              <a:t>Market, company, valuation, origination, execution, compliance, and knowledge agents</a:t>
            </a:r>
            <a:endParaRPr lang="en-US" sz="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D0CF13-6B24-2CD4-52D1-D4A63D255734}"/>
              </a:ext>
            </a:extLst>
          </p:cNvPr>
          <p:cNvSpPr/>
          <p:nvPr/>
        </p:nvSpPr>
        <p:spPr>
          <a:xfrm>
            <a:off x="5010912" y="2084832"/>
            <a:ext cx="2029968" cy="1627632"/>
          </a:xfrm>
          <a:prstGeom prst="roundRect">
            <a:avLst/>
          </a:prstGeom>
          <a:solidFill>
            <a:srgbClr val="DFF6DD"/>
          </a:solidFill>
          <a:ln w="17780">
            <a:solidFill>
              <a:srgbClr val="107C10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9EEA58-780B-C9EE-603B-EA187C431D79}"/>
              </a:ext>
            </a:extLst>
          </p:cNvPr>
          <p:cNvSpPr/>
          <p:nvPr/>
        </p:nvSpPr>
        <p:spPr>
          <a:xfrm>
            <a:off x="5157216" y="2221992"/>
            <a:ext cx="292608" cy="292608"/>
          </a:xfrm>
          <a:prstGeom prst="ellipse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519AC0-9330-25FF-0C82-443A59100636}"/>
              </a:ext>
            </a:extLst>
          </p:cNvPr>
          <p:cNvSpPr txBox="1"/>
          <p:nvPr/>
        </p:nvSpPr>
        <p:spPr>
          <a:xfrm>
            <a:off x="5234940" y="2272284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88355F-387B-50F1-E28E-CD000BF13F37}"/>
              </a:ext>
            </a:extLst>
          </p:cNvPr>
          <p:cNvSpPr txBox="1"/>
          <p:nvPr/>
        </p:nvSpPr>
        <p:spPr>
          <a:xfrm>
            <a:off x="5513832" y="2240280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Client Value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D5B3B9-A7E9-8C5F-5F8F-1AF3DEC8FC05}"/>
              </a:ext>
            </a:extLst>
          </p:cNvPr>
          <p:cNvSpPr txBox="1"/>
          <p:nvPr/>
        </p:nvSpPr>
        <p:spPr>
          <a:xfrm>
            <a:off x="5175504" y="2615184"/>
            <a:ext cx="173736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What client advantage are we creating?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9C405-73F7-EBAD-D5CF-D14D6426F48C}"/>
              </a:ext>
            </a:extLst>
          </p:cNvPr>
          <p:cNvSpPr txBox="1"/>
          <p:nvPr/>
        </p:nvSpPr>
        <p:spPr>
          <a:xfrm>
            <a:off x="5175504" y="3017520"/>
            <a:ext cx="173736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700">
                <a:solidFill>
                  <a:srgbClr val="374151"/>
                </a:solidFill>
                <a:latin typeface="Aptos" panose="020B0004020202020204" pitchFamily="34" charset="0"/>
              </a:rPr>
              <a:t>Faster advice, better timing, sharper options, stronger execution, earlier risk detection</a:t>
            </a:r>
            <a:endParaRPr lang="en-US" sz="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24B310-C606-2E12-CF59-C94B49154525}"/>
              </a:ext>
            </a:extLst>
          </p:cNvPr>
          <p:cNvSpPr/>
          <p:nvPr/>
        </p:nvSpPr>
        <p:spPr>
          <a:xfrm>
            <a:off x="7205472" y="2084832"/>
            <a:ext cx="2029967" cy="1627632"/>
          </a:xfrm>
          <a:prstGeom prst="roundRect">
            <a:avLst/>
          </a:prstGeom>
          <a:solidFill>
            <a:srgbClr val="FFF4CE"/>
          </a:solidFill>
          <a:ln w="17780">
            <a:solidFill>
              <a:srgbClr val="F7630C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0754F2A-CAE2-46D9-4AEF-77C81895E9D6}"/>
              </a:ext>
            </a:extLst>
          </p:cNvPr>
          <p:cNvSpPr/>
          <p:nvPr/>
        </p:nvSpPr>
        <p:spPr>
          <a:xfrm>
            <a:off x="7351776" y="2221992"/>
            <a:ext cx="292608" cy="292608"/>
          </a:xfrm>
          <a:prstGeom prst="ellipse">
            <a:avLst/>
          </a:prstGeom>
          <a:solidFill>
            <a:srgbClr val="F7630C"/>
          </a:solidFill>
          <a:ln>
            <a:solidFill>
              <a:srgbClr val="F763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DB00C-CE5F-E6D5-BA08-8FC053D1D5A0}"/>
              </a:ext>
            </a:extLst>
          </p:cNvPr>
          <p:cNvSpPr txBox="1"/>
          <p:nvPr/>
        </p:nvSpPr>
        <p:spPr>
          <a:xfrm>
            <a:off x="7429500" y="2272284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DF1D3F-C565-4CFC-3E1A-150D7CB83AC1}"/>
              </a:ext>
            </a:extLst>
          </p:cNvPr>
          <p:cNvSpPr txBox="1"/>
          <p:nvPr/>
        </p:nvSpPr>
        <p:spPr>
          <a:xfrm>
            <a:off x="7708392" y="2240280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Human Judgment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469E8A-A4A3-71ED-461D-742B557BE3F8}"/>
              </a:ext>
            </a:extLst>
          </p:cNvPr>
          <p:cNvSpPr txBox="1"/>
          <p:nvPr/>
        </p:nvSpPr>
        <p:spPr>
          <a:xfrm>
            <a:off x="7370064" y="2615184"/>
            <a:ext cx="17373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Where must bankers make the call?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CF2186-1057-385F-80C6-43FBD5F770D0}"/>
              </a:ext>
            </a:extLst>
          </p:cNvPr>
          <p:cNvSpPr txBox="1"/>
          <p:nvPr/>
        </p:nvSpPr>
        <p:spPr>
          <a:xfrm>
            <a:off x="7370064" y="3017520"/>
            <a:ext cx="173736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700">
                <a:solidFill>
                  <a:srgbClr val="374151"/>
                </a:solidFill>
                <a:latin typeface="Aptos" panose="020B0004020202020204" pitchFamily="34" charset="0"/>
              </a:rPr>
              <a:t>Strategic advice, outreach decisions, board recommendations, negotiation strategy, final approvals</a:t>
            </a:r>
            <a:endParaRPr lang="en-US" sz="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17D8E0F-18DE-FA5F-9C97-71154EB8D4B7}"/>
              </a:ext>
            </a:extLst>
          </p:cNvPr>
          <p:cNvSpPr/>
          <p:nvPr/>
        </p:nvSpPr>
        <p:spPr>
          <a:xfrm>
            <a:off x="9400032" y="2084832"/>
            <a:ext cx="2029968" cy="1627632"/>
          </a:xfrm>
          <a:prstGeom prst="roundRect">
            <a:avLst/>
          </a:prstGeom>
          <a:solidFill>
            <a:srgbClr val="D6F3F7"/>
          </a:solidFill>
          <a:ln w="17780">
            <a:solidFill>
              <a:srgbClr val="0C8599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149113E-93FB-C957-F1F0-EDB5B467499F}"/>
              </a:ext>
            </a:extLst>
          </p:cNvPr>
          <p:cNvSpPr/>
          <p:nvPr/>
        </p:nvSpPr>
        <p:spPr>
          <a:xfrm>
            <a:off x="9546336" y="2221992"/>
            <a:ext cx="292608" cy="292608"/>
          </a:xfrm>
          <a:prstGeom prst="ellipse">
            <a:avLst/>
          </a:prstGeom>
          <a:solidFill>
            <a:srgbClr val="0C8599"/>
          </a:solidFill>
          <a:ln>
            <a:solidFill>
              <a:srgbClr val="0C85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8C636A-7EF4-12C5-D2BE-D796D9C69A03}"/>
              </a:ext>
            </a:extLst>
          </p:cNvPr>
          <p:cNvSpPr txBox="1"/>
          <p:nvPr/>
        </p:nvSpPr>
        <p:spPr>
          <a:xfrm>
            <a:off x="9624060" y="2272284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6A81BD-0037-F16B-B9E8-34769F362E08}"/>
              </a:ext>
            </a:extLst>
          </p:cNvPr>
          <p:cNvSpPr txBox="1"/>
          <p:nvPr/>
        </p:nvSpPr>
        <p:spPr>
          <a:xfrm>
            <a:off x="9902952" y="2240280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Client Experience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ED8187-C3DE-D46C-2B06-84E123B26163}"/>
              </a:ext>
            </a:extLst>
          </p:cNvPr>
          <p:cNvSpPr txBox="1"/>
          <p:nvPr/>
        </p:nvSpPr>
        <p:spPr>
          <a:xfrm>
            <a:off x="9564624" y="2615184"/>
            <a:ext cx="17373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1F2937"/>
                </a:solidFill>
                <a:latin typeface="Aptos" panose="020B0004020202020204" pitchFamily="34" charset="0"/>
              </a:rPr>
              <a:t>How does advisory improve?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D269B4-4DA4-E235-6816-298F56C66AFD}"/>
              </a:ext>
            </a:extLst>
          </p:cNvPr>
          <p:cNvSpPr txBox="1"/>
          <p:nvPr/>
        </p:nvSpPr>
        <p:spPr>
          <a:xfrm>
            <a:off x="9564624" y="3017520"/>
            <a:ext cx="173736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700">
                <a:solidFill>
                  <a:srgbClr val="374151"/>
                </a:solidFill>
                <a:latin typeface="Aptos" panose="020B0004020202020204" pitchFamily="34" charset="0"/>
              </a:rPr>
              <a:t>Always-on intelligence, more personalized advice, faster responses, fewer execution gaps</a:t>
            </a:r>
            <a:endParaRPr lang="en-US" sz="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5D50C35-CD95-1F0E-73C4-8D0EC84EEF19}"/>
              </a:ext>
            </a:extLst>
          </p:cNvPr>
          <p:cNvSpPr/>
          <p:nvPr/>
        </p:nvSpPr>
        <p:spPr>
          <a:xfrm>
            <a:off x="1325880" y="3913632"/>
            <a:ext cx="9619488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BC9146-32B2-AD1A-7988-4759178468D7}"/>
              </a:ext>
            </a:extLst>
          </p:cNvPr>
          <p:cNvSpPr txBox="1"/>
          <p:nvPr/>
        </p:nvSpPr>
        <p:spPr>
          <a:xfrm>
            <a:off x="1508760" y="4014216"/>
            <a:ext cx="923544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Human-led, agent-executed, governance-by-design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ABDDF4-E617-4779-6602-56E1CB62E3A7}"/>
              </a:ext>
            </a:extLst>
          </p:cNvPr>
          <p:cNvSpPr txBox="1"/>
          <p:nvPr/>
        </p:nvSpPr>
        <p:spPr>
          <a:xfrm>
            <a:off x="1737360" y="4233672"/>
            <a:ext cx="877824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GB" sz="700">
                <a:solidFill>
                  <a:srgbClr val="DBEAFE"/>
                </a:solidFill>
                <a:latin typeface="Aptos" panose="020B0004020202020204" pitchFamily="34" charset="0"/>
              </a:rPr>
              <a:t>The operating model shifts from isolated AI pilots to coordinated digital deal teams</a:t>
            </a:r>
            <a:endParaRPr lang="en-US" sz="700">
              <a:solidFill>
                <a:srgbClr val="DBEAFE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D222B81-6CD3-0A69-C484-49C12DFCB9CD}"/>
              </a:ext>
            </a:extLst>
          </p:cNvPr>
          <p:cNvSpPr/>
          <p:nvPr/>
        </p:nvSpPr>
        <p:spPr>
          <a:xfrm>
            <a:off x="621792" y="4709160"/>
            <a:ext cx="2029968" cy="1298448"/>
          </a:xfrm>
          <a:prstGeom prst="roundRect">
            <a:avLst/>
          </a:prstGeom>
          <a:solidFill>
            <a:srgbClr val="F3F2F1"/>
          </a:solidFill>
          <a:ln w="17780">
            <a:solidFill>
              <a:srgbClr val="1E1E1E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3F05AB6-8DAB-5CF2-2903-502927E97E2B}"/>
              </a:ext>
            </a:extLst>
          </p:cNvPr>
          <p:cNvSpPr/>
          <p:nvPr/>
        </p:nvSpPr>
        <p:spPr>
          <a:xfrm>
            <a:off x="768096" y="4846320"/>
            <a:ext cx="292608" cy="292608"/>
          </a:xfrm>
          <a:prstGeom prst="ellipse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6F4810-E3B1-CC11-6DF5-AE36A7251FEF}"/>
              </a:ext>
            </a:extLst>
          </p:cNvPr>
          <p:cNvSpPr txBox="1"/>
          <p:nvPr/>
        </p:nvSpPr>
        <p:spPr>
          <a:xfrm>
            <a:off x="845820" y="4896612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C07A9C-4D8A-13B9-E0EC-7F1774AB64DE}"/>
              </a:ext>
            </a:extLst>
          </p:cNvPr>
          <p:cNvSpPr txBox="1"/>
          <p:nvPr/>
        </p:nvSpPr>
        <p:spPr>
          <a:xfrm>
            <a:off x="1124712" y="4864608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Workflow Orchestration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E4DE3A-887C-D9B8-1A19-D5413B27399E}"/>
              </a:ext>
            </a:extLst>
          </p:cNvPr>
          <p:cNvSpPr txBox="1"/>
          <p:nvPr/>
        </p:nvSpPr>
        <p:spPr>
          <a:xfrm>
            <a:off x="786384" y="5239512"/>
            <a:ext cx="173736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How do agents and bankers coordinate work?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614229-DF26-EC30-F23B-B1E4B1FC70DA}"/>
              </a:ext>
            </a:extLst>
          </p:cNvPr>
          <p:cNvSpPr txBox="1"/>
          <p:nvPr/>
        </p:nvSpPr>
        <p:spPr>
          <a:xfrm>
            <a:off x="786384" y="5641848"/>
            <a:ext cx="173736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700">
                <a:solidFill>
                  <a:srgbClr val="374151"/>
                </a:solidFill>
                <a:latin typeface="Aptos" panose="020B0004020202020204" pitchFamily="34" charset="0"/>
              </a:rPr>
              <a:t>Triggers, handoffs, review loops, escalation paths, approval gates</a:t>
            </a:r>
            <a:endParaRPr lang="en-US" sz="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AD1395E-FF6E-BABD-82A9-2C55FB07FD91}"/>
              </a:ext>
            </a:extLst>
          </p:cNvPr>
          <p:cNvSpPr/>
          <p:nvPr/>
        </p:nvSpPr>
        <p:spPr>
          <a:xfrm>
            <a:off x="2816352" y="4709160"/>
            <a:ext cx="2029968" cy="1298448"/>
          </a:xfrm>
          <a:prstGeom prst="roundRect">
            <a:avLst/>
          </a:prstGeom>
          <a:solidFill>
            <a:srgbClr val="FDE7E9"/>
          </a:solidFill>
          <a:ln w="17780">
            <a:solidFill>
              <a:srgbClr val="D13438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DA30D50-85C9-0CC6-A287-315E9FE14F06}"/>
              </a:ext>
            </a:extLst>
          </p:cNvPr>
          <p:cNvSpPr/>
          <p:nvPr/>
        </p:nvSpPr>
        <p:spPr>
          <a:xfrm>
            <a:off x="2962656" y="4846320"/>
            <a:ext cx="292608" cy="292608"/>
          </a:xfrm>
          <a:prstGeom prst="ellipse">
            <a:avLst/>
          </a:prstGeom>
          <a:solidFill>
            <a:srgbClr val="D13438"/>
          </a:solidFill>
          <a:ln>
            <a:solidFill>
              <a:srgbClr val="D13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0F5080-8681-A101-76BD-354F27320513}"/>
              </a:ext>
            </a:extLst>
          </p:cNvPr>
          <p:cNvSpPr txBox="1"/>
          <p:nvPr/>
        </p:nvSpPr>
        <p:spPr>
          <a:xfrm>
            <a:off x="3040380" y="4896612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F4B2C9-A6F4-AF2A-0E27-D6F1C5BCDE6E}"/>
              </a:ext>
            </a:extLst>
          </p:cNvPr>
          <p:cNvSpPr txBox="1"/>
          <p:nvPr/>
        </p:nvSpPr>
        <p:spPr>
          <a:xfrm>
            <a:off x="3319272" y="4864608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Governance &amp; Controls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1688A0-B04B-A8F1-7B6C-AAAEE1CCDFB7}"/>
              </a:ext>
            </a:extLst>
          </p:cNvPr>
          <p:cNvSpPr txBox="1"/>
          <p:nvPr/>
        </p:nvSpPr>
        <p:spPr>
          <a:xfrm>
            <a:off x="2980944" y="5239512"/>
            <a:ext cx="173736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How is the system safe and auditable?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A3538E-F89D-5632-B9CA-380898958CA9}"/>
              </a:ext>
            </a:extLst>
          </p:cNvPr>
          <p:cNvSpPr txBox="1"/>
          <p:nvPr/>
        </p:nvSpPr>
        <p:spPr>
          <a:xfrm>
            <a:off x="2980944" y="5641848"/>
            <a:ext cx="173736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374151"/>
                </a:solidFill>
                <a:latin typeface="Aptos" panose="020B0004020202020204" pitchFamily="34" charset="0"/>
              </a:rPr>
              <a:t>Permissions, MNPI boundaries, conflicts checks, audit logs, model validation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20C2C18-4EC5-4DD1-8610-47905D0D9593}"/>
              </a:ext>
            </a:extLst>
          </p:cNvPr>
          <p:cNvSpPr/>
          <p:nvPr/>
        </p:nvSpPr>
        <p:spPr>
          <a:xfrm>
            <a:off x="5010912" y="4709160"/>
            <a:ext cx="2029968" cy="1298448"/>
          </a:xfrm>
          <a:prstGeom prst="roundRect">
            <a:avLst/>
          </a:prstGeom>
          <a:solidFill>
            <a:srgbClr val="CFE4FA"/>
          </a:solidFill>
          <a:ln w="17780">
            <a:solidFill>
              <a:srgbClr val="0078D4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42F4203-F244-2E39-5702-554E6D3FE0E2}"/>
              </a:ext>
            </a:extLst>
          </p:cNvPr>
          <p:cNvSpPr/>
          <p:nvPr/>
        </p:nvSpPr>
        <p:spPr>
          <a:xfrm>
            <a:off x="5157216" y="4846320"/>
            <a:ext cx="292608" cy="292608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FB2583-D270-A1B4-F297-EC3B5D2C3BC0}"/>
              </a:ext>
            </a:extLst>
          </p:cNvPr>
          <p:cNvSpPr txBox="1"/>
          <p:nvPr/>
        </p:nvSpPr>
        <p:spPr>
          <a:xfrm>
            <a:off x="5234940" y="4896612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8D9B99-430E-E993-40A8-83F8D70D7C0A}"/>
              </a:ext>
            </a:extLst>
          </p:cNvPr>
          <p:cNvSpPr txBox="1"/>
          <p:nvPr/>
        </p:nvSpPr>
        <p:spPr>
          <a:xfrm>
            <a:off x="5513832" y="4864608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Technology Foundation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945E58-0477-DAE8-C825-44F5FB4266BC}"/>
              </a:ext>
            </a:extLst>
          </p:cNvPr>
          <p:cNvSpPr txBox="1"/>
          <p:nvPr/>
        </p:nvSpPr>
        <p:spPr>
          <a:xfrm>
            <a:off x="5175504" y="5239512"/>
            <a:ext cx="17373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1F2937"/>
                </a:solidFill>
                <a:latin typeface="Aptos" panose="020B0004020202020204" pitchFamily="34" charset="0"/>
              </a:rPr>
              <a:t>What infrastructure enables scale?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71DDF0-C9F0-68C4-D48E-54A69C7D46CE}"/>
              </a:ext>
            </a:extLst>
          </p:cNvPr>
          <p:cNvSpPr txBox="1"/>
          <p:nvPr/>
        </p:nvSpPr>
        <p:spPr>
          <a:xfrm>
            <a:off x="5175504" y="5641848"/>
            <a:ext cx="173736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700">
                <a:solidFill>
                  <a:srgbClr val="374151"/>
                </a:solidFill>
                <a:latin typeface="Aptos" panose="020B0004020202020204" pitchFamily="34" charset="0"/>
              </a:rPr>
              <a:t>Secure data layer, APIs, CRM integration, document intelligence, workflow tools</a:t>
            </a:r>
            <a:endParaRPr lang="en-US" sz="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B50BE9F-7595-2019-C238-F5754FFAB5BB}"/>
              </a:ext>
            </a:extLst>
          </p:cNvPr>
          <p:cNvSpPr/>
          <p:nvPr/>
        </p:nvSpPr>
        <p:spPr>
          <a:xfrm>
            <a:off x="7205472" y="4709160"/>
            <a:ext cx="2029967" cy="1298448"/>
          </a:xfrm>
          <a:prstGeom prst="roundRect">
            <a:avLst/>
          </a:prstGeom>
          <a:solidFill>
            <a:srgbClr val="E8DAEF"/>
          </a:solidFill>
          <a:ln w="17780">
            <a:solidFill>
              <a:srgbClr val="5C2D91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B56114C-F00D-C8B9-E16A-D2CBB6A1B371}"/>
              </a:ext>
            </a:extLst>
          </p:cNvPr>
          <p:cNvSpPr/>
          <p:nvPr/>
        </p:nvSpPr>
        <p:spPr>
          <a:xfrm>
            <a:off x="7351776" y="4846320"/>
            <a:ext cx="292608" cy="292608"/>
          </a:xfrm>
          <a:prstGeom prst="ellipse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23D64D-6120-E024-7D22-E7D9960A829A}"/>
              </a:ext>
            </a:extLst>
          </p:cNvPr>
          <p:cNvSpPr txBox="1"/>
          <p:nvPr/>
        </p:nvSpPr>
        <p:spPr>
          <a:xfrm>
            <a:off x="7429500" y="4896612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EF68DB-EABA-4493-0E37-E4C7E81F7BD6}"/>
              </a:ext>
            </a:extLst>
          </p:cNvPr>
          <p:cNvSpPr txBox="1"/>
          <p:nvPr/>
        </p:nvSpPr>
        <p:spPr>
          <a:xfrm>
            <a:off x="7708392" y="4864608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Talent &amp; Adoption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FE737E-DC75-6312-DA99-00CE72E00866}"/>
              </a:ext>
            </a:extLst>
          </p:cNvPr>
          <p:cNvSpPr txBox="1"/>
          <p:nvPr/>
        </p:nvSpPr>
        <p:spPr>
          <a:xfrm>
            <a:off x="7370064" y="5239512"/>
            <a:ext cx="173736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What new capabilities do bankers need?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F8F951-44C5-2D4E-1E33-73CEB8B3A164}"/>
              </a:ext>
            </a:extLst>
          </p:cNvPr>
          <p:cNvSpPr txBox="1"/>
          <p:nvPr/>
        </p:nvSpPr>
        <p:spPr>
          <a:xfrm>
            <a:off x="7370064" y="5641848"/>
            <a:ext cx="173736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374151"/>
                </a:solidFill>
                <a:latin typeface="Aptos" panose="020B0004020202020204" pitchFamily="34" charset="0"/>
              </a:rPr>
              <a:t>AI supervision, prompt literacy, output validation, data interpretation, agent management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8BFDCBF-4963-C476-A115-056A52EE7154}"/>
              </a:ext>
            </a:extLst>
          </p:cNvPr>
          <p:cNvSpPr/>
          <p:nvPr/>
        </p:nvSpPr>
        <p:spPr>
          <a:xfrm>
            <a:off x="9400032" y="4709160"/>
            <a:ext cx="2029968" cy="1298448"/>
          </a:xfrm>
          <a:prstGeom prst="roundRect">
            <a:avLst/>
          </a:prstGeom>
          <a:solidFill>
            <a:srgbClr val="DFF6DD"/>
          </a:solidFill>
          <a:ln w="17780">
            <a:solidFill>
              <a:srgbClr val="107C10"/>
            </a:solidFill>
          </a:ln>
          <a:effectLst>
            <a:outerShdw blurRad="101600" dist="31750" dir="3187807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0699A5-F77B-8C62-982C-6DD31E3D6C2E}"/>
              </a:ext>
            </a:extLst>
          </p:cNvPr>
          <p:cNvSpPr/>
          <p:nvPr/>
        </p:nvSpPr>
        <p:spPr>
          <a:xfrm>
            <a:off x="9546336" y="4846320"/>
            <a:ext cx="292608" cy="292608"/>
          </a:xfrm>
          <a:prstGeom prst="ellipse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0939E5-07E1-99A1-6292-C2A7401DD91F}"/>
              </a:ext>
            </a:extLst>
          </p:cNvPr>
          <p:cNvSpPr txBox="1"/>
          <p:nvPr/>
        </p:nvSpPr>
        <p:spPr>
          <a:xfrm>
            <a:off x="9624060" y="4896612"/>
            <a:ext cx="13716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DD7640-A92D-8901-B0E5-80ABC82ACBFF}"/>
              </a:ext>
            </a:extLst>
          </p:cNvPr>
          <p:cNvSpPr txBox="1"/>
          <p:nvPr/>
        </p:nvSpPr>
        <p:spPr>
          <a:xfrm>
            <a:off x="9902952" y="4864608"/>
            <a:ext cx="1389888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Aptos" panose="020B0004020202020204" pitchFamily="34" charset="0"/>
              </a:rPr>
              <a:t>Value Metrics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489F77-5D02-8D58-4DC9-801256874A7C}"/>
              </a:ext>
            </a:extLst>
          </p:cNvPr>
          <p:cNvSpPr txBox="1"/>
          <p:nvPr/>
        </p:nvSpPr>
        <p:spPr>
          <a:xfrm>
            <a:off x="9564624" y="5239512"/>
            <a:ext cx="173736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800" b="1">
                <a:solidFill>
                  <a:srgbClr val="1F2937"/>
                </a:solidFill>
                <a:latin typeface="Aptos" panose="020B0004020202020204" pitchFamily="34" charset="0"/>
              </a:rPr>
              <a:t>How do we measure business impact?</a:t>
            </a:r>
            <a:endParaRPr lang="en-US" sz="8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85254F-1593-0E2E-CA7A-F9BFAE1EB712}"/>
              </a:ext>
            </a:extLst>
          </p:cNvPr>
          <p:cNvSpPr txBox="1"/>
          <p:nvPr/>
        </p:nvSpPr>
        <p:spPr>
          <a:xfrm>
            <a:off x="9564624" y="5641848"/>
            <a:ext cx="173736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374151"/>
                </a:solidFill>
                <a:latin typeface="Aptos" panose="020B0004020202020204" pitchFamily="34" charset="0"/>
              </a:rPr>
              <a:t>Time saved, error reduction, response speed, mandate conversion, client satisfaction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48AC30-0ADE-999C-BCE9-B9BD0F07EC3A}"/>
              </a:ext>
            </a:extLst>
          </p:cNvPr>
          <p:cNvSpPr txBox="1"/>
          <p:nvPr/>
        </p:nvSpPr>
        <p:spPr>
          <a:xfrm>
            <a:off x="1269133" y="6502271"/>
            <a:ext cx="309443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DESIGNED BY</a:t>
            </a:r>
            <a:r>
              <a:rPr lang="en-US" dirty="0">
                <a:solidFill>
                  <a:schemeClr val="bg1"/>
                </a:solidFill>
              </a:rPr>
              <a:t>: Sanjeev Kumar</a:t>
            </a:r>
            <a:endParaRPr lang="LID4096" dirty="0" err="1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6C8219-95F5-D413-A56E-89D813E7E123}"/>
              </a:ext>
            </a:extLst>
          </p:cNvPr>
          <p:cNvSpPr txBox="1"/>
          <p:nvPr/>
        </p:nvSpPr>
        <p:spPr>
          <a:xfrm>
            <a:off x="5831671" y="6384640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Agent Canvas </a:t>
            </a:r>
            <a:r>
              <a:rPr lang="en-US" sz="1400" b="0" i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© 2026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by Sanjeev Kumar is licensed under CC BY 4.0. To view a copy of this license, visit https://creativecommons.org/licenses/by/4.0/</a:t>
            </a:r>
            <a:endParaRPr lang="LID4096" sz="1400" dirty="0">
              <a:solidFill>
                <a:schemeClr val="bg1"/>
              </a:solidFill>
            </a:endParaRPr>
          </a:p>
        </p:txBody>
      </p:sp>
      <p:pic>
        <p:nvPicPr>
          <p:cNvPr id="80" name="Graphic 79">
            <a:extLst>
              <a:ext uri="{FF2B5EF4-FFF2-40B4-BE49-F238E27FC236}">
                <a16:creationId xmlns:a16="http://schemas.microsoft.com/office/drawing/2014/main" id="{564A4A33-18F2-3688-F4B4-F8B95E75B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948" y="6467734"/>
            <a:ext cx="336639" cy="336639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053406E7-1870-CC39-E916-63F5FF6A94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63" y="6467730"/>
            <a:ext cx="336639" cy="33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87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342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Source Sans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Sanjeev Kumar</dc:creator>
  <cp:lastModifiedBy>Sanjeev Kumar</cp:lastModifiedBy>
  <cp:revision>1</cp:revision>
  <dcterms:created xsi:type="dcterms:W3CDTF">2026-07-12T21:26:00Z</dcterms:created>
  <dcterms:modified xsi:type="dcterms:W3CDTF">2026-07-12T21:48:48Z</dcterms:modified>
</cp:coreProperties>
</file>