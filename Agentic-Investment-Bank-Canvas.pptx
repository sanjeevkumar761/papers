
<file path=[Content_Types].xml><?xml version="1.0" encoding="utf-8"?>
<Types xmlns="http://schemas.openxmlformats.org/package/2006/content-types"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1" d="100"/>
          <a:sy n="101" d="100"/>
        </p:scale>
        <p:origin x="124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njeev Kumar" userId="ed94c422-f0b9-4d2d-a461-6e3065d93970" providerId="ADAL" clId="{9DED2472-5778-445B-B531-CB3A8110DA29}"/>
    <pc:docChg chg="custSel modSld">
      <pc:chgData name="Sanjeev Kumar" userId="ed94c422-f0b9-4d2d-a461-6e3065d93970" providerId="ADAL" clId="{9DED2472-5778-445B-B531-CB3A8110DA29}" dt="2026-07-12T21:29:55.282" v="6" actId="20577"/>
      <pc:docMkLst>
        <pc:docMk/>
      </pc:docMkLst>
      <pc:sldChg chg="addSp delSp modSp mod">
        <pc:chgData name="Sanjeev Kumar" userId="ed94c422-f0b9-4d2d-a461-6e3065d93970" providerId="ADAL" clId="{9DED2472-5778-445B-B531-CB3A8110DA29}" dt="2026-07-12T21:29:55.282" v="6" actId="20577"/>
        <pc:sldMkLst>
          <pc:docMk/>
          <pc:sldMk cId="2570087878" sldId="256"/>
        </pc:sldMkLst>
        <pc:spChg chg="del">
          <ac:chgData name="Sanjeev Kumar" userId="ed94c422-f0b9-4d2d-a461-6e3065d93970" providerId="ADAL" clId="{9DED2472-5778-445B-B531-CB3A8110DA29}" dt="2026-07-12T21:29:14.608" v="0" actId="478"/>
          <ac:spMkLst>
            <pc:docMk/>
            <pc:sldMk cId="2570087878" sldId="256"/>
            <ac:spMk id="74" creationId="{1999D8BB-DD3A-C069-BF27-C3F6893F5C1A}"/>
          </ac:spMkLst>
        </pc:spChg>
        <pc:spChg chg="add mod">
          <ac:chgData name="Sanjeev Kumar" userId="ed94c422-f0b9-4d2d-a461-6e3065d93970" providerId="ADAL" clId="{9DED2472-5778-445B-B531-CB3A8110DA29}" dt="2026-07-12T21:29:52.469" v="4" actId="1076"/>
          <ac:spMkLst>
            <pc:docMk/>
            <pc:sldMk cId="2570087878" sldId="256"/>
            <ac:spMk id="76" creationId="{E248AC30-0ADE-999C-BCE9-B9BD0F07EC3A}"/>
          </ac:spMkLst>
        </pc:spChg>
        <pc:spChg chg="add mod">
          <ac:chgData name="Sanjeev Kumar" userId="ed94c422-f0b9-4d2d-a461-6e3065d93970" providerId="ADAL" clId="{9DED2472-5778-445B-B531-CB3A8110DA29}" dt="2026-07-12T21:29:55.282" v="6" actId="20577"/>
          <ac:spMkLst>
            <pc:docMk/>
            <pc:sldMk cId="2570087878" sldId="256"/>
            <ac:spMk id="78" creationId="{F66C8219-95F5-D413-A56E-89D813E7E123}"/>
          </ac:spMkLst>
        </pc:spChg>
        <pc:picChg chg="add mod">
          <ac:chgData name="Sanjeev Kumar" userId="ed94c422-f0b9-4d2d-a461-6e3065d93970" providerId="ADAL" clId="{9DED2472-5778-445B-B531-CB3A8110DA29}" dt="2026-07-12T21:29:52.469" v="4" actId="1076"/>
          <ac:picMkLst>
            <pc:docMk/>
            <pc:sldMk cId="2570087878" sldId="256"/>
            <ac:picMk id="80" creationId="{564A4A33-18F2-3688-F4B4-F8B95E75BE4F}"/>
          </ac:picMkLst>
        </pc:picChg>
        <pc:picChg chg="add mod">
          <ac:chgData name="Sanjeev Kumar" userId="ed94c422-f0b9-4d2d-a461-6e3065d93970" providerId="ADAL" clId="{9DED2472-5778-445B-B531-CB3A8110DA29}" dt="2026-07-12T21:29:52.469" v="4" actId="1076"/>
          <ac:picMkLst>
            <pc:docMk/>
            <pc:sldMk cId="2570087878" sldId="256"/>
            <ac:picMk id="82" creationId="{053406E7-1870-CC39-E916-63F5FF6A945F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3364BD-4599-9BF6-6917-2A4A30838B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A2C3D44-5FAA-9852-2781-983DB27026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FFFF60-FD0C-886F-4230-0C2595ADE7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3F3B1-DB24-4043-B1DB-FD94DA3FD45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3D9A00-6047-7B59-C097-93842EE932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A8E1FE-24E8-FFBB-2F8F-9572D7833F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313C01-1311-4DE6-8079-6319EA8114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4600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97C61D-D81C-F4C1-E271-796FD1A0D2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97DB08-7935-1A93-5D37-FDAC472108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EEDC36-0E94-D66D-9FE5-1B1FA55BC6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3F3B1-DB24-4043-B1DB-FD94DA3FD45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7FA970-1E0E-4C3C-5486-388D386BBD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480995-C47C-93E1-9ED4-EDEAA8612E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313C01-1311-4DE6-8079-6319EA8114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77120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C28B7B-BD29-025F-824C-C38DCD22BE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0A91818-9840-FE76-BBAC-CCD58D6B55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9FF668-4792-6EF4-1450-40628F0DA8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3F3B1-DB24-4043-B1DB-FD94DA3FD45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DF0E83-9990-DA5D-4D15-B5F38CAA4C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D1BC44-47DD-6FF8-84E3-01BB7286B0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313C01-1311-4DE6-8079-6319EA8114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07981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56D98-9DE4-38A2-6436-868167AB16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EF693B-DF95-87A7-11B0-6504CA78FCD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F9BA45D-BC55-5228-ECDA-F4E0037EBD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08E3B6-4121-DFC0-EF6A-D303BE40B7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3F3B1-DB24-4043-B1DB-FD94DA3FD45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0B311AF-8B3E-29D1-2E87-FEB6ABDB80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26BDD65-1A09-D21C-9599-0960560222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313C01-1311-4DE6-8079-6319EA8114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31024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E2866C-6319-C600-2CD6-0472A72061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7EB955-E164-39A4-7FE3-7D38173B1F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E402D1-7304-6A14-0CBF-4E6DE3A47F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96B516-C520-D511-0EE7-08BAD8A46EC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3721ECA-479D-025D-E5FC-99C69B4A988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AFBFBD-6548-0205-393C-08F96E7430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3F3B1-DB24-4043-B1DB-FD94DA3FD45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4D3BC7-B611-EA4A-3254-36DA8B1A78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88B4332-094E-C2E8-8774-6F500D6BDB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313C01-1311-4DE6-8079-6319EA8114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05265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6783B8-6560-C086-D58B-32E282CF45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63D5466-0FBC-84F8-A74A-61BD1D544D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3F3B1-DB24-4043-B1DB-FD94DA3FD45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015CAB8-1F81-121F-8C96-A99A232AFC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739EE97-9E8D-3CF6-535F-D7DD1F65FB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313C01-1311-4DE6-8079-6319EA8114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86289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82E1D5E-0E7C-2C29-8615-902A5B4166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3F3B1-DB24-4043-B1DB-FD94DA3FD45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22BCB63-D808-F328-9788-03787748E5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CC714C-805A-2935-5BA5-7EDE90745A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313C01-1311-4DE6-8079-6319EA8114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0123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B41308-437C-F3C5-DF1B-04AA2ACABD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CF2659-51EF-2163-1D88-6F44D30237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1A577E0-AD75-DEFF-C649-E318EB8899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C308143-23EF-2849-A627-AA9ED878DD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3F3B1-DB24-4043-B1DB-FD94DA3FD45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8629B8-A400-ADE8-5249-36F5788541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F51904-0679-0515-3940-FF95F056B8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313C01-1311-4DE6-8079-6319EA8114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91696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95D0A9-CF68-4279-4B80-D577964A4A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D03802B-37CB-AE9C-9B9A-9BF6DF6E74E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3B5EEAF-02E8-BED9-78C5-94BCA35A6E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ABC978-4B21-57D6-5C38-59DC2A08ED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3F3B1-DB24-4043-B1DB-FD94DA3FD45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D67E94F-004C-8CCE-0520-DEC65852BD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923D5A-CA7F-A35F-7986-786E18678F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313C01-1311-4DE6-8079-6319EA8114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33061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69DE8E-FC44-4858-F6FB-48D9794541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EE9634-86F3-6AB9-6E4E-45104DBE5C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6A2CDC-3C80-AEAE-3E7D-74F85F2535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3F3B1-DB24-4043-B1DB-FD94DA3FD45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231739-687A-96BE-484A-EF561DD178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A1846F-1161-ECD3-3FF4-CF3527DF6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313C01-1311-4DE6-8079-6319EA8114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91298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6088A38-278F-4F6E-1EF3-15BD1A7BE97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EE625B2-7259-554D-8438-1110C7BC9BB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DAB087-8534-EBD7-408B-3C2ED2525E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3F3B1-DB24-4043-B1DB-FD94DA3FD45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BF2693-A54C-72BF-008C-BE9F546281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DB3473-AAD2-010A-4DAB-3482FD9AAE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313C01-1311-4DE6-8079-6319EA8114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7368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8A41BB2-0D86-2D73-4F4E-6B9C3C71E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B8D8FD-D7A3-563F-6AFE-AC6B708A0B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09B4D8-F0D3-6D6F-E550-33E8D45BE2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DB3F3B1-DB24-4043-B1DB-FD94DA3FD45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11CAA7-3777-20C2-D046-A5A9DEF2FB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6FE67-D52B-364B-03E2-A63FFED68D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F313C01-1311-4DE6-8079-6319EA8114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4612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FCA3C68-1C6D-59F3-AE2F-56364D5B329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11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5163B84A-0256-F94C-E718-32FA013C0E2D}"/>
              </a:ext>
            </a:extLst>
          </p:cNvPr>
          <p:cNvSpPr/>
          <p:nvPr/>
        </p:nvSpPr>
        <p:spPr>
          <a:xfrm>
            <a:off x="9652000" y="-1206500"/>
            <a:ext cx="3302000" cy="3302000"/>
          </a:xfrm>
          <a:prstGeom prst="ellipse">
            <a:avLst/>
          </a:prstGeom>
          <a:solidFill>
            <a:srgbClr val="0078D4">
              <a:alpha val="28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85E7056C-2FE0-E26B-DD08-AB47D4C596A7}"/>
              </a:ext>
            </a:extLst>
          </p:cNvPr>
          <p:cNvSpPr/>
          <p:nvPr/>
        </p:nvSpPr>
        <p:spPr>
          <a:xfrm>
            <a:off x="-1333500" y="5207000"/>
            <a:ext cx="3619500" cy="3619500"/>
          </a:xfrm>
          <a:prstGeom prst="ellipse">
            <a:avLst/>
          </a:prstGeom>
          <a:solidFill>
            <a:srgbClr val="5C2D91">
              <a:alpha val="26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1D1929-2A60-D6D5-44CA-2AA72A2A0E8B}"/>
              </a:ext>
            </a:extLst>
          </p:cNvPr>
          <p:cNvSpPr txBox="1"/>
          <p:nvPr/>
        </p:nvSpPr>
        <p:spPr>
          <a:xfrm>
            <a:off x="411480" y="256032"/>
            <a:ext cx="6675120" cy="40011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2600" b="1">
                <a:solidFill>
                  <a:srgbClr val="FFFFFF"/>
                </a:solidFill>
                <a:latin typeface="Aptos" panose="020B0004020202020204" pitchFamily="34" charset="0"/>
              </a:rPr>
              <a:t>Agentic Investment Bank Canvas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ACF2D27-2E43-5CA7-89D0-95FBED09EFC0}"/>
              </a:ext>
            </a:extLst>
          </p:cNvPr>
          <p:cNvSpPr txBox="1"/>
          <p:nvPr/>
        </p:nvSpPr>
        <p:spPr>
          <a:xfrm>
            <a:off x="429768" y="713232"/>
            <a:ext cx="758952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GB" sz="1000">
                <a:solidFill>
                  <a:srgbClr val="DBEAFE"/>
                </a:solidFill>
                <a:latin typeface="Aptos" panose="020B0004020202020204" pitchFamily="34" charset="0"/>
              </a:rPr>
              <a:t>A business-model-canvas style tool for designing a human-led, agent-executed banking operating model</a:t>
            </a:r>
            <a:endParaRPr lang="en-US" sz="1000">
              <a:solidFill>
                <a:srgbClr val="DBEAFE"/>
              </a:solidFill>
              <a:latin typeface="Aptos" panose="020B0004020202020204" pitchFamily="34" charset="0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C4B3E99-D2FA-B72C-6038-63327B78C1E5}"/>
              </a:ext>
            </a:extLst>
          </p:cNvPr>
          <p:cNvSpPr/>
          <p:nvPr/>
        </p:nvSpPr>
        <p:spPr>
          <a:xfrm>
            <a:off x="411480" y="1024128"/>
            <a:ext cx="11356848" cy="5349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101600" dist="31750" dir="3187807" rotWithShape="0">
              <a:srgbClr val="000000">
                <a:alpha val="18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CF487DA-368F-D0B2-3438-0DCCF9161951}"/>
              </a:ext>
            </a:extLst>
          </p:cNvPr>
          <p:cNvSpPr/>
          <p:nvPr/>
        </p:nvSpPr>
        <p:spPr>
          <a:xfrm>
            <a:off x="621792" y="1207008"/>
            <a:ext cx="10936224" cy="658368"/>
          </a:xfrm>
          <a:prstGeom prst="roundRect">
            <a:avLst/>
          </a:prstGeom>
          <a:solidFill>
            <a:srgbClr val="0F172A"/>
          </a:solidFill>
          <a:ln w="0">
            <a:solidFill>
              <a:srgbClr val="0F172A"/>
            </a:solidFill>
          </a:ln>
          <a:effectLst>
            <a:outerShdw blurRad="101600" dist="31750" dir="3187807" rotWithShape="0">
              <a:srgbClr val="000000">
                <a:alpha val="18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A717B8-A870-F1C1-F818-1AAF25DA837D}"/>
              </a:ext>
            </a:extLst>
          </p:cNvPr>
          <p:cNvSpPr txBox="1"/>
          <p:nvPr/>
        </p:nvSpPr>
        <p:spPr>
          <a:xfrm>
            <a:off x="822960" y="1344168"/>
            <a:ext cx="10515600" cy="24622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GB" sz="1600" b="1">
                <a:solidFill>
                  <a:srgbClr val="FFFFFF"/>
                </a:solidFill>
                <a:latin typeface="Aptos" panose="020B0004020202020204" pitchFamily="34" charset="0"/>
              </a:rPr>
              <a:t>From AI tools to an agentic operating model</a:t>
            </a:r>
            <a:endParaRPr lang="en-US" sz="160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4969298-1C75-B97B-101C-1CFE07E397B1}"/>
              </a:ext>
            </a:extLst>
          </p:cNvPr>
          <p:cNvSpPr txBox="1"/>
          <p:nvPr/>
        </p:nvSpPr>
        <p:spPr>
          <a:xfrm>
            <a:off x="1097280" y="1600200"/>
            <a:ext cx="9966960" cy="12311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GB" sz="800">
                <a:solidFill>
                  <a:srgbClr val="DBEAFE"/>
                </a:solidFill>
                <a:latin typeface="Aptos" panose="020B0004020202020204" pitchFamily="34" charset="0"/>
              </a:rPr>
              <a:t>Connect proprietary context, specialized agents, human judgment, governance, and measurable client value</a:t>
            </a:r>
            <a:endParaRPr lang="en-US" sz="800">
              <a:solidFill>
                <a:srgbClr val="DBEAFE"/>
              </a:solidFill>
              <a:latin typeface="Aptos" panose="020B0004020202020204" pitchFamily="34" charset="0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8AAC9DC9-1A97-82C6-43B8-88BE127AEDFD}"/>
              </a:ext>
            </a:extLst>
          </p:cNvPr>
          <p:cNvSpPr/>
          <p:nvPr/>
        </p:nvSpPr>
        <p:spPr>
          <a:xfrm>
            <a:off x="621792" y="2084832"/>
            <a:ext cx="2029968" cy="1627632"/>
          </a:xfrm>
          <a:prstGeom prst="roundRect">
            <a:avLst/>
          </a:prstGeom>
          <a:solidFill>
            <a:srgbClr val="CFE4FA"/>
          </a:solidFill>
          <a:ln w="17780">
            <a:solidFill>
              <a:srgbClr val="0078D4"/>
            </a:solidFill>
          </a:ln>
          <a:effectLst>
            <a:outerShdw blurRad="101600" dist="31750" dir="3187807" rotWithShape="0">
              <a:srgbClr val="000000">
                <a:alpha val="18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EBAEF09C-002B-0CCF-9596-53B1CBF2B177}"/>
              </a:ext>
            </a:extLst>
          </p:cNvPr>
          <p:cNvSpPr/>
          <p:nvPr/>
        </p:nvSpPr>
        <p:spPr>
          <a:xfrm>
            <a:off x="768096" y="2221992"/>
            <a:ext cx="292608" cy="292608"/>
          </a:xfrm>
          <a:prstGeom prst="ellipse">
            <a:avLst/>
          </a:prstGeom>
          <a:solidFill>
            <a:srgbClr val="0078D4"/>
          </a:solidFill>
          <a:ln>
            <a:solidFill>
              <a:srgbClr val="0078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858AB84-0CAB-16E9-B488-17E0C43F470E}"/>
              </a:ext>
            </a:extLst>
          </p:cNvPr>
          <p:cNvSpPr txBox="1"/>
          <p:nvPr/>
        </p:nvSpPr>
        <p:spPr>
          <a:xfrm>
            <a:off x="845820" y="2272284"/>
            <a:ext cx="137160" cy="12311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sz="800" b="1">
                <a:solidFill>
                  <a:srgbClr val="FFFFFF"/>
                </a:solidFill>
                <a:latin typeface="Aptos" panose="020B0004020202020204" pitchFamily="34" charset="0"/>
              </a:rPr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B4E0DF2-74DA-241B-A962-BB5A220F21FB}"/>
              </a:ext>
            </a:extLst>
          </p:cNvPr>
          <p:cNvSpPr txBox="1"/>
          <p:nvPr/>
        </p:nvSpPr>
        <p:spPr>
          <a:xfrm>
            <a:off x="1124712" y="2240280"/>
            <a:ext cx="1389888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1000" b="1">
                <a:solidFill>
                  <a:srgbClr val="0F172A"/>
                </a:solidFill>
                <a:latin typeface="Aptos" panose="020B0004020202020204" pitchFamily="34" charset="0"/>
              </a:rPr>
              <a:t>Proprietary Context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36ECCB4-0B13-EB44-E7B1-890E5047F343}"/>
              </a:ext>
            </a:extLst>
          </p:cNvPr>
          <p:cNvSpPr txBox="1"/>
          <p:nvPr/>
        </p:nvSpPr>
        <p:spPr>
          <a:xfrm>
            <a:off x="786384" y="2615184"/>
            <a:ext cx="1737360" cy="24622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GB" sz="800" b="1">
                <a:solidFill>
                  <a:srgbClr val="1F2937"/>
                </a:solidFill>
                <a:latin typeface="Aptos" panose="020B0004020202020204" pitchFamily="34" charset="0"/>
              </a:rPr>
              <a:t>What does the bank know that others do not?</a:t>
            </a:r>
            <a:endParaRPr lang="en-US" sz="800" b="1">
              <a:solidFill>
                <a:srgbClr val="1F2937"/>
              </a:solidFill>
              <a:latin typeface="Aptos" panose="020B000402020202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82AB9AE-C3DB-0E99-5876-6D012FD2BDBB}"/>
              </a:ext>
            </a:extLst>
          </p:cNvPr>
          <p:cNvSpPr txBox="1"/>
          <p:nvPr/>
        </p:nvSpPr>
        <p:spPr>
          <a:xfrm>
            <a:off x="786384" y="3017520"/>
            <a:ext cx="1737360" cy="32316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GB" sz="700">
                <a:solidFill>
                  <a:srgbClr val="374151"/>
                </a:solidFill>
                <a:latin typeface="Aptos" panose="020B0004020202020204" pitchFamily="34" charset="0"/>
              </a:rPr>
              <a:t>Client history, sector theses, deal precedents, buyer behavior, valuation history, risk learnings</a:t>
            </a:r>
            <a:endParaRPr lang="en-US" sz="700">
              <a:solidFill>
                <a:srgbClr val="374151"/>
              </a:solidFill>
              <a:latin typeface="Aptos" panose="020B0004020202020204" pitchFamily="34" charset="0"/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5EEA8B3A-12D0-ABB9-578E-02437131CA28}"/>
              </a:ext>
            </a:extLst>
          </p:cNvPr>
          <p:cNvSpPr/>
          <p:nvPr/>
        </p:nvSpPr>
        <p:spPr>
          <a:xfrm>
            <a:off x="2816352" y="2084832"/>
            <a:ext cx="2029968" cy="1627632"/>
          </a:xfrm>
          <a:prstGeom prst="roundRect">
            <a:avLst/>
          </a:prstGeom>
          <a:solidFill>
            <a:srgbClr val="E8DAEF"/>
          </a:solidFill>
          <a:ln w="17780">
            <a:solidFill>
              <a:srgbClr val="5C2D91"/>
            </a:solidFill>
          </a:ln>
          <a:effectLst>
            <a:outerShdw blurRad="101600" dist="31750" dir="3187807" rotWithShape="0">
              <a:srgbClr val="000000">
                <a:alpha val="18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BE3F5B33-AD20-F9F4-D8AB-3584B4B478B7}"/>
              </a:ext>
            </a:extLst>
          </p:cNvPr>
          <p:cNvSpPr/>
          <p:nvPr/>
        </p:nvSpPr>
        <p:spPr>
          <a:xfrm>
            <a:off x="2962656" y="2221992"/>
            <a:ext cx="292608" cy="292608"/>
          </a:xfrm>
          <a:prstGeom prst="ellipse">
            <a:avLst/>
          </a:prstGeom>
          <a:solidFill>
            <a:srgbClr val="5C2D91"/>
          </a:solidFill>
          <a:ln>
            <a:solidFill>
              <a:srgbClr val="5C2D9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4DA1573-91CE-E6B1-3854-86BFF3DFA847}"/>
              </a:ext>
            </a:extLst>
          </p:cNvPr>
          <p:cNvSpPr txBox="1"/>
          <p:nvPr/>
        </p:nvSpPr>
        <p:spPr>
          <a:xfrm>
            <a:off x="3040380" y="2272284"/>
            <a:ext cx="137160" cy="12311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sz="800" b="1">
                <a:solidFill>
                  <a:srgbClr val="FFFFFF"/>
                </a:solidFill>
                <a:latin typeface="Aptos" panose="020B0004020202020204" pitchFamily="34" charset="0"/>
              </a:rPr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FF90496-E7B9-4294-05D3-130872E77610}"/>
              </a:ext>
            </a:extLst>
          </p:cNvPr>
          <p:cNvSpPr txBox="1"/>
          <p:nvPr/>
        </p:nvSpPr>
        <p:spPr>
          <a:xfrm>
            <a:off x="3319272" y="2240280"/>
            <a:ext cx="1389888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1000" b="1">
                <a:solidFill>
                  <a:srgbClr val="0F172A"/>
                </a:solidFill>
                <a:latin typeface="Aptos" panose="020B0004020202020204" pitchFamily="34" charset="0"/>
              </a:rPr>
              <a:t>Agentic Capabilities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554457C-0D02-6C7C-F382-BEB184C33B1B}"/>
              </a:ext>
            </a:extLst>
          </p:cNvPr>
          <p:cNvSpPr txBox="1"/>
          <p:nvPr/>
        </p:nvSpPr>
        <p:spPr>
          <a:xfrm>
            <a:off x="2980944" y="2615184"/>
            <a:ext cx="1737360" cy="24622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GB" sz="800" b="1">
                <a:solidFill>
                  <a:srgbClr val="1F2937"/>
                </a:solidFill>
                <a:latin typeface="Aptos" panose="020B0004020202020204" pitchFamily="34" charset="0"/>
              </a:rPr>
              <a:t>What specialized agents are required?</a:t>
            </a:r>
            <a:endParaRPr lang="en-US" sz="800" b="1">
              <a:solidFill>
                <a:srgbClr val="1F2937"/>
              </a:solidFill>
              <a:latin typeface="Aptos" panose="020B000402020202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1CBA7FB-AB99-B74B-4FEA-9EE3292C8F19}"/>
              </a:ext>
            </a:extLst>
          </p:cNvPr>
          <p:cNvSpPr txBox="1"/>
          <p:nvPr/>
        </p:nvSpPr>
        <p:spPr>
          <a:xfrm>
            <a:off x="2980944" y="3017520"/>
            <a:ext cx="1737360" cy="32316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GB" sz="700">
                <a:solidFill>
                  <a:srgbClr val="374151"/>
                </a:solidFill>
                <a:latin typeface="Aptos" panose="020B0004020202020204" pitchFamily="34" charset="0"/>
              </a:rPr>
              <a:t>Market, company, valuation, origination, execution, compliance, and knowledge agents</a:t>
            </a:r>
            <a:endParaRPr lang="en-US" sz="700">
              <a:solidFill>
                <a:srgbClr val="374151"/>
              </a:solidFill>
              <a:latin typeface="Aptos" panose="020B0004020202020204" pitchFamily="34" charset="0"/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5FD0CF13-6B24-2CD4-52D1-D4A63D255734}"/>
              </a:ext>
            </a:extLst>
          </p:cNvPr>
          <p:cNvSpPr/>
          <p:nvPr/>
        </p:nvSpPr>
        <p:spPr>
          <a:xfrm>
            <a:off x="5010912" y="2084832"/>
            <a:ext cx="2029968" cy="1627632"/>
          </a:xfrm>
          <a:prstGeom prst="roundRect">
            <a:avLst/>
          </a:prstGeom>
          <a:solidFill>
            <a:srgbClr val="DFF6DD"/>
          </a:solidFill>
          <a:ln w="17780">
            <a:solidFill>
              <a:srgbClr val="107C10"/>
            </a:solidFill>
          </a:ln>
          <a:effectLst>
            <a:outerShdw blurRad="101600" dist="31750" dir="3187807" rotWithShape="0">
              <a:srgbClr val="000000">
                <a:alpha val="18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5A9EEA58-780B-C9EE-603B-EA187C431D79}"/>
              </a:ext>
            </a:extLst>
          </p:cNvPr>
          <p:cNvSpPr/>
          <p:nvPr/>
        </p:nvSpPr>
        <p:spPr>
          <a:xfrm>
            <a:off x="5157216" y="2221992"/>
            <a:ext cx="292608" cy="292608"/>
          </a:xfrm>
          <a:prstGeom prst="ellipse">
            <a:avLst/>
          </a:prstGeom>
          <a:solidFill>
            <a:srgbClr val="107C10"/>
          </a:solidFill>
          <a:ln>
            <a:solidFill>
              <a:srgbClr val="107C1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A519AC0-9330-25FF-0C82-443A59100636}"/>
              </a:ext>
            </a:extLst>
          </p:cNvPr>
          <p:cNvSpPr txBox="1"/>
          <p:nvPr/>
        </p:nvSpPr>
        <p:spPr>
          <a:xfrm>
            <a:off x="5234940" y="2272284"/>
            <a:ext cx="137160" cy="12311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sz="800" b="1">
                <a:solidFill>
                  <a:srgbClr val="FFFFFF"/>
                </a:solidFill>
                <a:latin typeface="Aptos" panose="020B0004020202020204" pitchFamily="34" charset="0"/>
              </a:rPr>
              <a:t>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188355F-387B-50F1-E28E-CD000BF13F37}"/>
              </a:ext>
            </a:extLst>
          </p:cNvPr>
          <p:cNvSpPr txBox="1"/>
          <p:nvPr/>
        </p:nvSpPr>
        <p:spPr>
          <a:xfrm>
            <a:off x="5513832" y="2240280"/>
            <a:ext cx="1389888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1000" b="1">
                <a:solidFill>
                  <a:srgbClr val="0F172A"/>
                </a:solidFill>
                <a:latin typeface="Aptos" panose="020B0004020202020204" pitchFamily="34" charset="0"/>
              </a:rPr>
              <a:t>Client Value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7D5B3B9-A7E9-8C5F-5F8F-1AF3DEC8FC05}"/>
              </a:ext>
            </a:extLst>
          </p:cNvPr>
          <p:cNvSpPr txBox="1"/>
          <p:nvPr/>
        </p:nvSpPr>
        <p:spPr>
          <a:xfrm>
            <a:off x="5175504" y="2615184"/>
            <a:ext cx="1737360" cy="24622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GB" sz="800" b="1">
                <a:solidFill>
                  <a:srgbClr val="1F2937"/>
                </a:solidFill>
                <a:latin typeface="Aptos" panose="020B0004020202020204" pitchFamily="34" charset="0"/>
              </a:rPr>
              <a:t>What client advantage are we creating?</a:t>
            </a:r>
            <a:endParaRPr lang="en-US" sz="800" b="1">
              <a:solidFill>
                <a:srgbClr val="1F2937"/>
              </a:solidFill>
              <a:latin typeface="Aptos" panose="020B000402020202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F29C405-73F7-EBAD-D5CF-D14D6426F48C}"/>
              </a:ext>
            </a:extLst>
          </p:cNvPr>
          <p:cNvSpPr txBox="1"/>
          <p:nvPr/>
        </p:nvSpPr>
        <p:spPr>
          <a:xfrm>
            <a:off x="5175504" y="3017520"/>
            <a:ext cx="1737360" cy="2154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GB" sz="700">
                <a:solidFill>
                  <a:srgbClr val="374151"/>
                </a:solidFill>
                <a:latin typeface="Aptos" panose="020B0004020202020204" pitchFamily="34" charset="0"/>
              </a:rPr>
              <a:t>Faster advice, better timing, sharper options, stronger execution, earlier risk detection</a:t>
            </a:r>
            <a:endParaRPr lang="en-US" sz="700">
              <a:solidFill>
                <a:srgbClr val="374151"/>
              </a:solidFill>
              <a:latin typeface="Aptos" panose="020B0004020202020204" pitchFamily="34" charset="0"/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4624B310-C606-2E12-CF59-C94B49154525}"/>
              </a:ext>
            </a:extLst>
          </p:cNvPr>
          <p:cNvSpPr/>
          <p:nvPr/>
        </p:nvSpPr>
        <p:spPr>
          <a:xfrm>
            <a:off x="7205472" y="2084832"/>
            <a:ext cx="2029967" cy="1627632"/>
          </a:xfrm>
          <a:prstGeom prst="roundRect">
            <a:avLst/>
          </a:prstGeom>
          <a:solidFill>
            <a:srgbClr val="FFF4CE"/>
          </a:solidFill>
          <a:ln w="17780">
            <a:solidFill>
              <a:srgbClr val="F7630C"/>
            </a:solidFill>
          </a:ln>
          <a:effectLst>
            <a:outerShdw blurRad="101600" dist="31750" dir="3187807" rotWithShape="0">
              <a:srgbClr val="000000">
                <a:alpha val="18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B0754F2A-CAE2-46D9-4AEF-77C81895E9D6}"/>
              </a:ext>
            </a:extLst>
          </p:cNvPr>
          <p:cNvSpPr/>
          <p:nvPr/>
        </p:nvSpPr>
        <p:spPr>
          <a:xfrm>
            <a:off x="7351776" y="2221992"/>
            <a:ext cx="292608" cy="292608"/>
          </a:xfrm>
          <a:prstGeom prst="ellipse">
            <a:avLst/>
          </a:prstGeom>
          <a:solidFill>
            <a:srgbClr val="F7630C"/>
          </a:solidFill>
          <a:ln>
            <a:solidFill>
              <a:srgbClr val="F7630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87DB00C-CE5F-E6D5-BA08-8FC053D1D5A0}"/>
              </a:ext>
            </a:extLst>
          </p:cNvPr>
          <p:cNvSpPr txBox="1"/>
          <p:nvPr/>
        </p:nvSpPr>
        <p:spPr>
          <a:xfrm>
            <a:off x="7429500" y="2272284"/>
            <a:ext cx="137160" cy="12311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sz="800" b="1">
                <a:solidFill>
                  <a:srgbClr val="FFFFFF"/>
                </a:solidFill>
                <a:latin typeface="Aptos" panose="020B0004020202020204" pitchFamily="34" charset="0"/>
              </a:rPr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6DF1D3F-C565-4CFC-3E1A-150D7CB83AC1}"/>
              </a:ext>
            </a:extLst>
          </p:cNvPr>
          <p:cNvSpPr txBox="1"/>
          <p:nvPr/>
        </p:nvSpPr>
        <p:spPr>
          <a:xfrm>
            <a:off x="7708392" y="2240280"/>
            <a:ext cx="1389888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1000" b="1">
                <a:solidFill>
                  <a:srgbClr val="0F172A"/>
                </a:solidFill>
                <a:latin typeface="Aptos" panose="020B0004020202020204" pitchFamily="34" charset="0"/>
              </a:rPr>
              <a:t>Human Judgment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1469E8A-A4A3-71ED-461D-742B557BE3F8}"/>
              </a:ext>
            </a:extLst>
          </p:cNvPr>
          <p:cNvSpPr txBox="1"/>
          <p:nvPr/>
        </p:nvSpPr>
        <p:spPr>
          <a:xfrm>
            <a:off x="7370064" y="2615184"/>
            <a:ext cx="1737360" cy="12311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GB" sz="800" b="1">
                <a:solidFill>
                  <a:srgbClr val="1F2937"/>
                </a:solidFill>
                <a:latin typeface="Aptos" panose="020B0004020202020204" pitchFamily="34" charset="0"/>
              </a:rPr>
              <a:t>Where must bankers make the call?</a:t>
            </a:r>
            <a:endParaRPr lang="en-US" sz="800" b="1">
              <a:solidFill>
                <a:srgbClr val="1F2937"/>
              </a:solidFill>
              <a:latin typeface="Aptos" panose="020B0004020202020204" pitchFamily="34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FCF2186-1057-385F-80C6-43FBD5F770D0}"/>
              </a:ext>
            </a:extLst>
          </p:cNvPr>
          <p:cNvSpPr txBox="1"/>
          <p:nvPr/>
        </p:nvSpPr>
        <p:spPr>
          <a:xfrm>
            <a:off x="7370064" y="3017520"/>
            <a:ext cx="1737360" cy="32316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GB" sz="700">
                <a:solidFill>
                  <a:srgbClr val="374151"/>
                </a:solidFill>
                <a:latin typeface="Aptos" panose="020B0004020202020204" pitchFamily="34" charset="0"/>
              </a:rPr>
              <a:t>Strategic advice, outreach decisions, board recommendations, negotiation strategy, final approvals</a:t>
            </a:r>
            <a:endParaRPr lang="en-US" sz="700">
              <a:solidFill>
                <a:srgbClr val="374151"/>
              </a:solidFill>
              <a:latin typeface="Aptos" panose="020B0004020202020204" pitchFamily="34" charset="0"/>
            </a:endParaRP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A17D8E0F-18DE-FA5F-9C97-71154EB8D4B7}"/>
              </a:ext>
            </a:extLst>
          </p:cNvPr>
          <p:cNvSpPr/>
          <p:nvPr/>
        </p:nvSpPr>
        <p:spPr>
          <a:xfrm>
            <a:off x="9400032" y="2084832"/>
            <a:ext cx="2029968" cy="1627632"/>
          </a:xfrm>
          <a:prstGeom prst="roundRect">
            <a:avLst/>
          </a:prstGeom>
          <a:solidFill>
            <a:srgbClr val="D6F3F7"/>
          </a:solidFill>
          <a:ln w="17780">
            <a:solidFill>
              <a:srgbClr val="0C8599"/>
            </a:solidFill>
          </a:ln>
          <a:effectLst>
            <a:outerShdw blurRad="101600" dist="31750" dir="3187807" rotWithShape="0">
              <a:srgbClr val="000000">
                <a:alpha val="18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B149113E-93FB-C957-F1F0-EDB5B467499F}"/>
              </a:ext>
            </a:extLst>
          </p:cNvPr>
          <p:cNvSpPr/>
          <p:nvPr/>
        </p:nvSpPr>
        <p:spPr>
          <a:xfrm>
            <a:off x="9546336" y="2221992"/>
            <a:ext cx="292608" cy="292608"/>
          </a:xfrm>
          <a:prstGeom prst="ellipse">
            <a:avLst/>
          </a:prstGeom>
          <a:solidFill>
            <a:srgbClr val="0C8599"/>
          </a:solidFill>
          <a:ln>
            <a:solidFill>
              <a:srgbClr val="0C85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B8C636A-7EF4-12C5-D2BE-D796D9C69A03}"/>
              </a:ext>
            </a:extLst>
          </p:cNvPr>
          <p:cNvSpPr txBox="1"/>
          <p:nvPr/>
        </p:nvSpPr>
        <p:spPr>
          <a:xfrm>
            <a:off x="9624060" y="2272284"/>
            <a:ext cx="137160" cy="12311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sz="800" b="1">
                <a:solidFill>
                  <a:srgbClr val="FFFFFF"/>
                </a:solidFill>
                <a:latin typeface="Aptos" panose="020B0004020202020204" pitchFamily="34" charset="0"/>
              </a:rPr>
              <a:t>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26A81BD-0037-F16B-B9E8-34769F362E08}"/>
              </a:ext>
            </a:extLst>
          </p:cNvPr>
          <p:cNvSpPr txBox="1"/>
          <p:nvPr/>
        </p:nvSpPr>
        <p:spPr>
          <a:xfrm>
            <a:off x="9902952" y="2240280"/>
            <a:ext cx="1389888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1000" b="1">
                <a:solidFill>
                  <a:srgbClr val="0F172A"/>
                </a:solidFill>
                <a:latin typeface="Aptos" panose="020B0004020202020204" pitchFamily="34" charset="0"/>
              </a:rPr>
              <a:t>Client Experience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6ED8187-C3DE-D46C-2B06-84E123B26163}"/>
              </a:ext>
            </a:extLst>
          </p:cNvPr>
          <p:cNvSpPr txBox="1"/>
          <p:nvPr/>
        </p:nvSpPr>
        <p:spPr>
          <a:xfrm>
            <a:off x="9564624" y="2615184"/>
            <a:ext cx="1737360" cy="12311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800" b="1">
                <a:solidFill>
                  <a:srgbClr val="1F2937"/>
                </a:solidFill>
                <a:latin typeface="Aptos" panose="020B0004020202020204" pitchFamily="34" charset="0"/>
              </a:rPr>
              <a:t>How does advisory improve?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FD269B4-4DA4-E235-6816-298F56C66AFD}"/>
              </a:ext>
            </a:extLst>
          </p:cNvPr>
          <p:cNvSpPr txBox="1"/>
          <p:nvPr/>
        </p:nvSpPr>
        <p:spPr>
          <a:xfrm>
            <a:off x="9564624" y="3017520"/>
            <a:ext cx="1737360" cy="32316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GB" sz="700">
                <a:solidFill>
                  <a:srgbClr val="374151"/>
                </a:solidFill>
                <a:latin typeface="Aptos" panose="020B0004020202020204" pitchFamily="34" charset="0"/>
              </a:rPr>
              <a:t>Always-on intelligence, more personalized advice, faster responses, fewer execution gaps</a:t>
            </a:r>
            <a:endParaRPr lang="en-US" sz="700">
              <a:solidFill>
                <a:srgbClr val="374151"/>
              </a:solidFill>
              <a:latin typeface="Aptos" panose="020B0004020202020204" pitchFamily="34" charset="0"/>
            </a:endParaRP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25D50C35-CD95-1F0E-73C4-8D0EC84EEF19}"/>
              </a:ext>
            </a:extLst>
          </p:cNvPr>
          <p:cNvSpPr/>
          <p:nvPr/>
        </p:nvSpPr>
        <p:spPr>
          <a:xfrm>
            <a:off x="1325880" y="3913632"/>
            <a:ext cx="9619488" cy="5029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  <a:effectLst>
            <a:outerShdw blurRad="101600" dist="31750" dir="3187807" rotWithShape="0">
              <a:srgbClr val="000000">
                <a:alpha val="18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BBC9146-32B2-AD1A-7988-4759178468D7}"/>
              </a:ext>
            </a:extLst>
          </p:cNvPr>
          <p:cNvSpPr txBox="1"/>
          <p:nvPr/>
        </p:nvSpPr>
        <p:spPr>
          <a:xfrm>
            <a:off x="1508760" y="4014216"/>
            <a:ext cx="9235440" cy="2154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sz="1400" b="1">
                <a:solidFill>
                  <a:srgbClr val="FFFFFF"/>
                </a:solidFill>
                <a:latin typeface="Aptos" panose="020B0004020202020204" pitchFamily="34" charset="0"/>
              </a:rPr>
              <a:t>Human-led, agent-executed, governance-by-design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9ABDDF4-E617-4779-6602-56E1CB62E3A7}"/>
              </a:ext>
            </a:extLst>
          </p:cNvPr>
          <p:cNvSpPr txBox="1"/>
          <p:nvPr/>
        </p:nvSpPr>
        <p:spPr>
          <a:xfrm>
            <a:off x="1737360" y="4233672"/>
            <a:ext cx="8778240" cy="10772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GB" sz="700">
                <a:solidFill>
                  <a:srgbClr val="DBEAFE"/>
                </a:solidFill>
                <a:latin typeface="Aptos" panose="020B0004020202020204" pitchFamily="34" charset="0"/>
              </a:rPr>
              <a:t>The operating model shifts from isolated AI pilots to coordinated digital deal teams</a:t>
            </a:r>
            <a:endParaRPr lang="en-US" sz="700">
              <a:solidFill>
                <a:srgbClr val="DBEAFE"/>
              </a:solidFill>
              <a:latin typeface="Aptos" panose="020B0004020202020204" pitchFamily="34" charset="0"/>
            </a:endParaRPr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7D222B81-6CD3-0A69-C484-49C12DFCB9CD}"/>
              </a:ext>
            </a:extLst>
          </p:cNvPr>
          <p:cNvSpPr/>
          <p:nvPr/>
        </p:nvSpPr>
        <p:spPr>
          <a:xfrm>
            <a:off x="621792" y="4709160"/>
            <a:ext cx="2029968" cy="1298448"/>
          </a:xfrm>
          <a:prstGeom prst="roundRect">
            <a:avLst/>
          </a:prstGeom>
          <a:solidFill>
            <a:srgbClr val="F3F2F1"/>
          </a:solidFill>
          <a:ln w="17780">
            <a:solidFill>
              <a:srgbClr val="1E1E1E"/>
            </a:solidFill>
          </a:ln>
          <a:effectLst>
            <a:outerShdw blurRad="101600" dist="31750" dir="3187807" rotWithShape="0">
              <a:srgbClr val="000000">
                <a:alpha val="18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83F05AB6-8DAB-5CF2-2903-502927E97E2B}"/>
              </a:ext>
            </a:extLst>
          </p:cNvPr>
          <p:cNvSpPr/>
          <p:nvPr/>
        </p:nvSpPr>
        <p:spPr>
          <a:xfrm>
            <a:off x="768096" y="4846320"/>
            <a:ext cx="292608" cy="292608"/>
          </a:xfrm>
          <a:prstGeom prst="ellipse">
            <a:avLst/>
          </a:prstGeom>
          <a:solidFill>
            <a:srgbClr val="1E1E1E"/>
          </a:solidFill>
          <a:ln>
            <a:solidFill>
              <a:srgbClr val="1E1E1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06F4810-E3B1-CC11-6DF5-AE36A7251FEF}"/>
              </a:ext>
            </a:extLst>
          </p:cNvPr>
          <p:cNvSpPr txBox="1"/>
          <p:nvPr/>
        </p:nvSpPr>
        <p:spPr>
          <a:xfrm>
            <a:off x="845820" y="4896612"/>
            <a:ext cx="137160" cy="12311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sz="800" b="1">
                <a:solidFill>
                  <a:srgbClr val="FFFFFF"/>
                </a:solidFill>
                <a:latin typeface="Aptos" panose="020B0004020202020204" pitchFamily="34" charset="0"/>
              </a:rPr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8C07A9C-4D8A-13B9-E0EC-7F1774AB64DE}"/>
              </a:ext>
            </a:extLst>
          </p:cNvPr>
          <p:cNvSpPr txBox="1"/>
          <p:nvPr/>
        </p:nvSpPr>
        <p:spPr>
          <a:xfrm>
            <a:off x="1124712" y="4864608"/>
            <a:ext cx="1389888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1000" b="1">
                <a:solidFill>
                  <a:srgbClr val="0F172A"/>
                </a:solidFill>
                <a:latin typeface="Aptos" panose="020B0004020202020204" pitchFamily="34" charset="0"/>
              </a:rPr>
              <a:t>Workflow Orchestration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2E4DE3A-887C-D9B8-1A19-D5413B27399E}"/>
              </a:ext>
            </a:extLst>
          </p:cNvPr>
          <p:cNvSpPr txBox="1"/>
          <p:nvPr/>
        </p:nvSpPr>
        <p:spPr>
          <a:xfrm>
            <a:off x="786384" y="5239512"/>
            <a:ext cx="1737360" cy="24622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GB" sz="800" b="1">
                <a:solidFill>
                  <a:srgbClr val="1F2937"/>
                </a:solidFill>
                <a:latin typeface="Aptos" panose="020B0004020202020204" pitchFamily="34" charset="0"/>
              </a:rPr>
              <a:t>How do agents and bankers coordinate work?</a:t>
            </a:r>
            <a:endParaRPr lang="en-US" sz="800" b="1">
              <a:solidFill>
                <a:srgbClr val="1F2937"/>
              </a:solidFill>
              <a:latin typeface="Aptos" panose="020B0004020202020204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3614229-DF26-EC30-F23B-B1E4B1FC70DA}"/>
              </a:ext>
            </a:extLst>
          </p:cNvPr>
          <p:cNvSpPr txBox="1"/>
          <p:nvPr/>
        </p:nvSpPr>
        <p:spPr>
          <a:xfrm>
            <a:off x="786384" y="5641848"/>
            <a:ext cx="1737360" cy="2154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GB" sz="700">
                <a:solidFill>
                  <a:srgbClr val="374151"/>
                </a:solidFill>
                <a:latin typeface="Aptos" panose="020B0004020202020204" pitchFamily="34" charset="0"/>
              </a:rPr>
              <a:t>Triggers, handoffs, review loops, escalation paths, approval gates</a:t>
            </a:r>
            <a:endParaRPr lang="en-US" sz="700">
              <a:solidFill>
                <a:srgbClr val="374151"/>
              </a:solidFill>
              <a:latin typeface="Aptos" panose="020B0004020202020204" pitchFamily="34" charset="0"/>
            </a:endParaRP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AAD1395E-FF6E-BABD-82A9-2C55FB07FD91}"/>
              </a:ext>
            </a:extLst>
          </p:cNvPr>
          <p:cNvSpPr/>
          <p:nvPr/>
        </p:nvSpPr>
        <p:spPr>
          <a:xfrm>
            <a:off x="2816352" y="4709160"/>
            <a:ext cx="2029968" cy="1298448"/>
          </a:xfrm>
          <a:prstGeom prst="roundRect">
            <a:avLst/>
          </a:prstGeom>
          <a:solidFill>
            <a:srgbClr val="FDE7E9"/>
          </a:solidFill>
          <a:ln w="17780">
            <a:solidFill>
              <a:srgbClr val="D13438"/>
            </a:solidFill>
          </a:ln>
          <a:effectLst>
            <a:outerShdw blurRad="101600" dist="31750" dir="3187807" rotWithShape="0">
              <a:srgbClr val="000000">
                <a:alpha val="18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8DA30D50-85C9-0CC6-A287-315E9FE14F06}"/>
              </a:ext>
            </a:extLst>
          </p:cNvPr>
          <p:cNvSpPr/>
          <p:nvPr/>
        </p:nvSpPr>
        <p:spPr>
          <a:xfrm>
            <a:off x="2962656" y="4846320"/>
            <a:ext cx="292608" cy="292608"/>
          </a:xfrm>
          <a:prstGeom prst="ellipse">
            <a:avLst/>
          </a:prstGeom>
          <a:solidFill>
            <a:srgbClr val="D13438"/>
          </a:solidFill>
          <a:ln>
            <a:solidFill>
              <a:srgbClr val="D134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F0F5080-8681-A101-76BD-354F27320513}"/>
              </a:ext>
            </a:extLst>
          </p:cNvPr>
          <p:cNvSpPr txBox="1"/>
          <p:nvPr/>
        </p:nvSpPr>
        <p:spPr>
          <a:xfrm>
            <a:off x="3040380" y="4896612"/>
            <a:ext cx="137160" cy="12311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sz="800" b="1">
                <a:solidFill>
                  <a:srgbClr val="FFFFFF"/>
                </a:solidFill>
                <a:latin typeface="Aptos" panose="020B0004020202020204" pitchFamily="34" charset="0"/>
              </a:rPr>
              <a:t>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9F4B2C9-A6F4-AF2A-0E27-D6F1C5BCDE6E}"/>
              </a:ext>
            </a:extLst>
          </p:cNvPr>
          <p:cNvSpPr txBox="1"/>
          <p:nvPr/>
        </p:nvSpPr>
        <p:spPr>
          <a:xfrm>
            <a:off x="3319272" y="4864608"/>
            <a:ext cx="1389888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1000" b="1">
                <a:solidFill>
                  <a:srgbClr val="0F172A"/>
                </a:solidFill>
                <a:latin typeface="Aptos" panose="020B0004020202020204" pitchFamily="34" charset="0"/>
              </a:rPr>
              <a:t>Governance &amp; Controls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71688A0-B04B-A8F1-7B6C-AAAEE1CCDFB7}"/>
              </a:ext>
            </a:extLst>
          </p:cNvPr>
          <p:cNvSpPr txBox="1"/>
          <p:nvPr/>
        </p:nvSpPr>
        <p:spPr>
          <a:xfrm>
            <a:off x="2980944" y="5239512"/>
            <a:ext cx="1737360" cy="24622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GB" sz="800" b="1">
                <a:solidFill>
                  <a:srgbClr val="1F2937"/>
                </a:solidFill>
                <a:latin typeface="Aptos" panose="020B0004020202020204" pitchFamily="34" charset="0"/>
              </a:rPr>
              <a:t>How is the system safe and auditable?</a:t>
            </a:r>
            <a:endParaRPr lang="en-US" sz="800" b="1">
              <a:solidFill>
                <a:srgbClr val="1F2937"/>
              </a:solidFill>
              <a:latin typeface="Aptos" panose="020B0004020202020204" pitchFamily="34" charset="0"/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EA3538E-F89D-5632-B9CA-380898958CA9}"/>
              </a:ext>
            </a:extLst>
          </p:cNvPr>
          <p:cNvSpPr txBox="1"/>
          <p:nvPr/>
        </p:nvSpPr>
        <p:spPr>
          <a:xfrm>
            <a:off x="2980944" y="5641848"/>
            <a:ext cx="1737360" cy="2154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700">
                <a:solidFill>
                  <a:srgbClr val="374151"/>
                </a:solidFill>
                <a:latin typeface="Aptos" panose="020B0004020202020204" pitchFamily="34" charset="0"/>
              </a:rPr>
              <a:t>Permissions, MNPI boundaries, conflicts checks, audit logs, model validation</a:t>
            </a: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320C2C18-4EC5-4DD1-8610-47905D0D9593}"/>
              </a:ext>
            </a:extLst>
          </p:cNvPr>
          <p:cNvSpPr/>
          <p:nvPr/>
        </p:nvSpPr>
        <p:spPr>
          <a:xfrm>
            <a:off x="5010912" y="4709160"/>
            <a:ext cx="2029968" cy="1298448"/>
          </a:xfrm>
          <a:prstGeom prst="roundRect">
            <a:avLst/>
          </a:prstGeom>
          <a:solidFill>
            <a:srgbClr val="CFE4FA"/>
          </a:solidFill>
          <a:ln w="17780">
            <a:solidFill>
              <a:srgbClr val="0078D4"/>
            </a:solidFill>
          </a:ln>
          <a:effectLst>
            <a:outerShdw blurRad="101600" dist="31750" dir="3187807" rotWithShape="0">
              <a:srgbClr val="000000">
                <a:alpha val="18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742F4203-F244-2E39-5702-554E6D3FE0E2}"/>
              </a:ext>
            </a:extLst>
          </p:cNvPr>
          <p:cNvSpPr/>
          <p:nvPr/>
        </p:nvSpPr>
        <p:spPr>
          <a:xfrm>
            <a:off x="5157216" y="4846320"/>
            <a:ext cx="292608" cy="292608"/>
          </a:xfrm>
          <a:prstGeom prst="ellipse">
            <a:avLst/>
          </a:prstGeom>
          <a:solidFill>
            <a:srgbClr val="0078D4"/>
          </a:solidFill>
          <a:ln>
            <a:solidFill>
              <a:srgbClr val="0078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0FB2583-D270-A1B4-F297-EC3B5D2C3BC0}"/>
              </a:ext>
            </a:extLst>
          </p:cNvPr>
          <p:cNvSpPr txBox="1"/>
          <p:nvPr/>
        </p:nvSpPr>
        <p:spPr>
          <a:xfrm>
            <a:off x="5234940" y="4896612"/>
            <a:ext cx="137160" cy="12311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sz="800" b="1">
                <a:solidFill>
                  <a:srgbClr val="FFFFFF"/>
                </a:solidFill>
                <a:latin typeface="Aptos" panose="020B0004020202020204" pitchFamily="34" charset="0"/>
              </a:rPr>
              <a:t>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58D9B99-430E-E993-40A8-83F8D70D7C0A}"/>
              </a:ext>
            </a:extLst>
          </p:cNvPr>
          <p:cNvSpPr txBox="1"/>
          <p:nvPr/>
        </p:nvSpPr>
        <p:spPr>
          <a:xfrm>
            <a:off x="5513832" y="4864608"/>
            <a:ext cx="1389888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1000" b="1">
                <a:solidFill>
                  <a:srgbClr val="0F172A"/>
                </a:solidFill>
                <a:latin typeface="Aptos" panose="020B0004020202020204" pitchFamily="34" charset="0"/>
              </a:rPr>
              <a:t>Technology Foundation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9945E58-0477-DAE8-C825-44F5FB4266BC}"/>
              </a:ext>
            </a:extLst>
          </p:cNvPr>
          <p:cNvSpPr txBox="1"/>
          <p:nvPr/>
        </p:nvSpPr>
        <p:spPr>
          <a:xfrm>
            <a:off x="5175504" y="5239512"/>
            <a:ext cx="1737360" cy="12311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800" b="1">
                <a:solidFill>
                  <a:srgbClr val="1F2937"/>
                </a:solidFill>
                <a:latin typeface="Aptos" panose="020B0004020202020204" pitchFamily="34" charset="0"/>
              </a:rPr>
              <a:t>What infrastructure enables scale?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871DDF0-C9F0-68C4-D48E-54A69C7D46CE}"/>
              </a:ext>
            </a:extLst>
          </p:cNvPr>
          <p:cNvSpPr txBox="1"/>
          <p:nvPr/>
        </p:nvSpPr>
        <p:spPr>
          <a:xfrm>
            <a:off x="5175504" y="5641848"/>
            <a:ext cx="1737360" cy="2154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GB" sz="700">
                <a:solidFill>
                  <a:srgbClr val="374151"/>
                </a:solidFill>
                <a:latin typeface="Aptos" panose="020B0004020202020204" pitchFamily="34" charset="0"/>
              </a:rPr>
              <a:t>Secure data layer, APIs, CRM integration, document intelligence, workflow tools</a:t>
            </a:r>
            <a:endParaRPr lang="en-US" sz="700">
              <a:solidFill>
                <a:srgbClr val="374151"/>
              </a:solidFill>
              <a:latin typeface="Aptos" panose="020B0004020202020204" pitchFamily="34" charset="0"/>
            </a:endParaRPr>
          </a:p>
        </p:txBody>
      </p:sp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0B50BE9F-7595-2019-C238-F5754FFAB5BB}"/>
              </a:ext>
            </a:extLst>
          </p:cNvPr>
          <p:cNvSpPr/>
          <p:nvPr/>
        </p:nvSpPr>
        <p:spPr>
          <a:xfrm>
            <a:off x="7205472" y="4709160"/>
            <a:ext cx="2029967" cy="1298448"/>
          </a:xfrm>
          <a:prstGeom prst="roundRect">
            <a:avLst/>
          </a:prstGeom>
          <a:solidFill>
            <a:srgbClr val="E8DAEF"/>
          </a:solidFill>
          <a:ln w="17780">
            <a:solidFill>
              <a:srgbClr val="5C2D91"/>
            </a:solidFill>
          </a:ln>
          <a:effectLst>
            <a:outerShdw blurRad="101600" dist="31750" dir="3187807" rotWithShape="0">
              <a:srgbClr val="000000">
                <a:alpha val="18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BB56114C-F00D-C8B9-E16A-D2CBB6A1B371}"/>
              </a:ext>
            </a:extLst>
          </p:cNvPr>
          <p:cNvSpPr/>
          <p:nvPr/>
        </p:nvSpPr>
        <p:spPr>
          <a:xfrm>
            <a:off x="7351776" y="4846320"/>
            <a:ext cx="292608" cy="292608"/>
          </a:xfrm>
          <a:prstGeom prst="ellipse">
            <a:avLst/>
          </a:prstGeom>
          <a:solidFill>
            <a:srgbClr val="5C2D91"/>
          </a:solidFill>
          <a:ln>
            <a:solidFill>
              <a:srgbClr val="5C2D9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523D64D-6120-E024-7D22-E7D9960A829A}"/>
              </a:ext>
            </a:extLst>
          </p:cNvPr>
          <p:cNvSpPr txBox="1"/>
          <p:nvPr/>
        </p:nvSpPr>
        <p:spPr>
          <a:xfrm>
            <a:off x="7429500" y="4896612"/>
            <a:ext cx="137160" cy="12311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sz="800" b="1">
                <a:solidFill>
                  <a:srgbClr val="FFFFFF"/>
                </a:solidFill>
                <a:latin typeface="Aptos" panose="020B0004020202020204" pitchFamily="34" charset="0"/>
              </a:rPr>
              <a:t>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9EF68DB-EABA-4493-0E37-E4C7E81F7BD6}"/>
              </a:ext>
            </a:extLst>
          </p:cNvPr>
          <p:cNvSpPr txBox="1"/>
          <p:nvPr/>
        </p:nvSpPr>
        <p:spPr>
          <a:xfrm>
            <a:off x="7708392" y="4864608"/>
            <a:ext cx="1389888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1000" b="1">
                <a:solidFill>
                  <a:srgbClr val="0F172A"/>
                </a:solidFill>
                <a:latin typeface="Aptos" panose="020B0004020202020204" pitchFamily="34" charset="0"/>
              </a:rPr>
              <a:t>Talent &amp; Adoption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0FE737E-DC75-6312-DA99-00CE72E00866}"/>
              </a:ext>
            </a:extLst>
          </p:cNvPr>
          <p:cNvSpPr txBox="1"/>
          <p:nvPr/>
        </p:nvSpPr>
        <p:spPr>
          <a:xfrm>
            <a:off x="7370064" y="5239512"/>
            <a:ext cx="1737360" cy="24622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GB" sz="800" b="1">
                <a:solidFill>
                  <a:srgbClr val="1F2937"/>
                </a:solidFill>
                <a:latin typeface="Aptos" panose="020B0004020202020204" pitchFamily="34" charset="0"/>
              </a:rPr>
              <a:t>What new capabilities do bankers need?</a:t>
            </a:r>
            <a:endParaRPr lang="en-US" sz="800" b="1">
              <a:solidFill>
                <a:srgbClr val="1F2937"/>
              </a:solidFill>
              <a:latin typeface="Aptos" panose="020B0004020202020204" pitchFamily="34" charset="0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4F8F951-44C5-2D4E-1E33-73CEB8B3A164}"/>
              </a:ext>
            </a:extLst>
          </p:cNvPr>
          <p:cNvSpPr txBox="1"/>
          <p:nvPr/>
        </p:nvSpPr>
        <p:spPr>
          <a:xfrm>
            <a:off x="7370064" y="5641848"/>
            <a:ext cx="1737360" cy="32316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700">
                <a:solidFill>
                  <a:srgbClr val="374151"/>
                </a:solidFill>
                <a:latin typeface="Aptos" panose="020B0004020202020204" pitchFamily="34" charset="0"/>
              </a:rPr>
              <a:t>AI supervision, prompt literacy, output validation, data interpretation, agent management</a:t>
            </a:r>
          </a:p>
        </p:txBody>
      </p:sp>
      <p:sp>
        <p:nvSpPr>
          <p:cNvPr id="68" name="Rectangle: Rounded Corners 67">
            <a:extLst>
              <a:ext uri="{FF2B5EF4-FFF2-40B4-BE49-F238E27FC236}">
                <a16:creationId xmlns:a16="http://schemas.microsoft.com/office/drawing/2014/main" id="{D8BFDCBF-4963-C476-A115-056A52EE7154}"/>
              </a:ext>
            </a:extLst>
          </p:cNvPr>
          <p:cNvSpPr/>
          <p:nvPr/>
        </p:nvSpPr>
        <p:spPr>
          <a:xfrm>
            <a:off x="9400032" y="4709160"/>
            <a:ext cx="2029968" cy="1298448"/>
          </a:xfrm>
          <a:prstGeom prst="roundRect">
            <a:avLst/>
          </a:prstGeom>
          <a:solidFill>
            <a:srgbClr val="DFF6DD"/>
          </a:solidFill>
          <a:ln w="17780">
            <a:solidFill>
              <a:srgbClr val="107C10"/>
            </a:solidFill>
          </a:ln>
          <a:effectLst>
            <a:outerShdw blurRad="101600" dist="31750" dir="3187807" rotWithShape="0">
              <a:srgbClr val="000000">
                <a:alpha val="18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BD0699A5-F77B-8C62-982C-6DD31E3D6C2E}"/>
              </a:ext>
            </a:extLst>
          </p:cNvPr>
          <p:cNvSpPr/>
          <p:nvPr/>
        </p:nvSpPr>
        <p:spPr>
          <a:xfrm>
            <a:off x="9546336" y="4846320"/>
            <a:ext cx="292608" cy="292608"/>
          </a:xfrm>
          <a:prstGeom prst="ellipse">
            <a:avLst/>
          </a:prstGeom>
          <a:solidFill>
            <a:srgbClr val="107C10"/>
          </a:solidFill>
          <a:ln>
            <a:solidFill>
              <a:srgbClr val="107C1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F0939E5-07E1-99A1-6292-C2A7401DD91F}"/>
              </a:ext>
            </a:extLst>
          </p:cNvPr>
          <p:cNvSpPr txBox="1"/>
          <p:nvPr/>
        </p:nvSpPr>
        <p:spPr>
          <a:xfrm>
            <a:off x="9624060" y="4896612"/>
            <a:ext cx="137160" cy="12311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sz="800" b="1">
                <a:solidFill>
                  <a:srgbClr val="FFFFFF"/>
                </a:solidFill>
                <a:latin typeface="Aptos" panose="020B0004020202020204" pitchFamily="34" charset="0"/>
              </a:rPr>
              <a:t>10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42DD7640-A92D-8901-B0E5-80ABC82ACBFF}"/>
              </a:ext>
            </a:extLst>
          </p:cNvPr>
          <p:cNvSpPr txBox="1"/>
          <p:nvPr/>
        </p:nvSpPr>
        <p:spPr>
          <a:xfrm>
            <a:off x="9902952" y="4864608"/>
            <a:ext cx="1389888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1000" b="1">
                <a:solidFill>
                  <a:srgbClr val="0F172A"/>
                </a:solidFill>
                <a:latin typeface="Aptos" panose="020B0004020202020204" pitchFamily="34" charset="0"/>
              </a:rPr>
              <a:t>Value Metrics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0489F77-5D02-8D58-4DC9-801256874A7C}"/>
              </a:ext>
            </a:extLst>
          </p:cNvPr>
          <p:cNvSpPr txBox="1"/>
          <p:nvPr/>
        </p:nvSpPr>
        <p:spPr>
          <a:xfrm>
            <a:off x="9564624" y="5239512"/>
            <a:ext cx="1737360" cy="24622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GB" sz="800" b="1">
                <a:solidFill>
                  <a:srgbClr val="1F2937"/>
                </a:solidFill>
                <a:latin typeface="Aptos" panose="020B0004020202020204" pitchFamily="34" charset="0"/>
              </a:rPr>
              <a:t>How do we measure business impact?</a:t>
            </a:r>
            <a:endParaRPr lang="en-US" sz="800" b="1">
              <a:solidFill>
                <a:srgbClr val="1F2937"/>
              </a:solidFill>
              <a:latin typeface="Aptos" panose="020B0004020202020204" pitchFamily="34" charset="0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5C85254F-1593-0E2E-CA7A-F9BFAE1EB712}"/>
              </a:ext>
            </a:extLst>
          </p:cNvPr>
          <p:cNvSpPr txBox="1"/>
          <p:nvPr/>
        </p:nvSpPr>
        <p:spPr>
          <a:xfrm>
            <a:off x="9564624" y="5641848"/>
            <a:ext cx="1737360" cy="2154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700">
                <a:solidFill>
                  <a:srgbClr val="374151"/>
                </a:solidFill>
                <a:latin typeface="Aptos" panose="020B0004020202020204" pitchFamily="34" charset="0"/>
              </a:rPr>
              <a:t>Time saved, error reduction, response speed, mandate conversion, client satisfaction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E248AC30-0ADE-999C-BCE9-B9BD0F07EC3A}"/>
              </a:ext>
            </a:extLst>
          </p:cNvPr>
          <p:cNvSpPr txBox="1"/>
          <p:nvPr/>
        </p:nvSpPr>
        <p:spPr>
          <a:xfrm>
            <a:off x="1269133" y="6502271"/>
            <a:ext cx="3094437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b="1" dirty="0">
                <a:solidFill>
                  <a:schemeClr val="bg1"/>
                </a:solidFill>
              </a:rPr>
              <a:t>DESIGNED BY</a:t>
            </a:r>
            <a:r>
              <a:rPr lang="en-US" dirty="0">
                <a:solidFill>
                  <a:schemeClr val="bg1"/>
                </a:solidFill>
              </a:rPr>
              <a:t>: Sanjeev Kumar</a:t>
            </a:r>
            <a:endParaRPr lang="LID4096" dirty="0" err="1">
              <a:solidFill>
                <a:schemeClr val="bg1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F66C8219-95F5-D413-A56E-89D813E7E123}"/>
              </a:ext>
            </a:extLst>
          </p:cNvPr>
          <p:cNvSpPr txBox="1"/>
          <p:nvPr/>
        </p:nvSpPr>
        <p:spPr>
          <a:xfrm>
            <a:off x="5831671" y="6384640"/>
            <a:ext cx="609407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i="0" dirty="0">
                <a:solidFill>
                  <a:schemeClr val="bg1"/>
                </a:solidFill>
                <a:effectLst/>
                <a:latin typeface="Source Sans Pro" panose="020B0503030403020204" pitchFamily="34" charset="0"/>
              </a:rPr>
              <a:t>Agent Canvas </a:t>
            </a:r>
            <a:r>
              <a:rPr lang="en-US" sz="1400" b="0" i="0">
                <a:solidFill>
                  <a:schemeClr val="bg1"/>
                </a:solidFill>
                <a:effectLst/>
                <a:latin typeface="Source Sans Pro" panose="020B0503030403020204" pitchFamily="34" charset="0"/>
              </a:rPr>
              <a:t>© 2026 </a:t>
            </a:r>
            <a:r>
              <a:rPr lang="en-US" sz="1400" b="0" i="0" dirty="0">
                <a:solidFill>
                  <a:schemeClr val="bg1"/>
                </a:solidFill>
                <a:effectLst/>
                <a:latin typeface="Source Sans Pro" panose="020B0503030403020204" pitchFamily="34" charset="0"/>
              </a:rPr>
              <a:t>by Sanjeev Kumar is licensed under CC BY 4.0. To view a copy of this license, visit https://creativecommons.org/licenses/by/4.0/</a:t>
            </a:r>
            <a:endParaRPr lang="LID4096" sz="1400" dirty="0">
              <a:solidFill>
                <a:schemeClr val="bg1"/>
              </a:solidFill>
            </a:endParaRPr>
          </a:p>
        </p:txBody>
      </p:sp>
      <p:pic>
        <p:nvPicPr>
          <p:cNvPr id="80" name="Graphic 79">
            <a:extLst>
              <a:ext uri="{FF2B5EF4-FFF2-40B4-BE49-F238E27FC236}">
                <a16:creationId xmlns:a16="http://schemas.microsoft.com/office/drawing/2014/main" id="{564A4A33-18F2-3688-F4B4-F8B95E75BE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17948" y="6467734"/>
            <a:ext cx="336639" cy="336639"/>
          </a:xfrm>
          <a:prstGeom prst="rect">
            <a:avLst/>
          </a:prstGeom>
        </p:spPr>
      </p:pic>
      <p:pic>
        <p:nvPicPr>
          <p:cNvPr id="82" name="Graphic 81">
            <a:extLst>
              <a:ext uri="{FF2B5EF4-FFF2-40B4-BE49-F238E27FC236}">
                <a16:creationId xmlns:a16="http://schemas.microsoft.com/office/drawing/2014/main" id="{053406E7-1870-CC39-E916-63F5FF6A945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6763" y="6467730"/>
            <a:ext cx="336639" cy="3366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00878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87867195-f2b8-4ac2-b0b6-6bb73cb33afc}" enabled="1" method="Privilege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342</Words>
  <Application>Microsoft Office PowerPoint</Application>
  <PresentationFormat>Widescreen</PresentationFormat>
  <Paragraphs>48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Source Sans Pro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Sanjeev Kumar</dc:creator>
  <cp:lastModifiedBy>Sanjeev Kumar</cp:lastModifiedBy>
  <cp:revision>1</cp:revision>
  <dcterms:created xsi:type="dcterms:W3CDTF">2026-07-12T21:26:00Z</dcterms:created>
  <dcterms:modified xsi:type="dcterms:W3CDTF">2026-07-12T21:32:51Z</dcterms:modified>
</cp:coreProperties>
</file>